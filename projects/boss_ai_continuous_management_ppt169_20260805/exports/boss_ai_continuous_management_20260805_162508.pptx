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notesSlides/notesSlide1.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notesSlides/_rels/notesSlide1.xml.rels><?xml version="1.0" encoding="UTF-8" standalone="yes"?>
<Relationships xmlns="http://schemas.openxmlformats.org/package/2006/relationships">
  <Relationship Id="rId1"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Boss AI belongs in a different category from task-oriented executive assistants. Hermes and OpenClaw help an executive ask questions and complete discrete tasks, whereas Boss AI continuously senses how the enterprise is changing and turns that understanding into management follow-through. The stack starts with Ontology, builds a persistent Wiki Brain, converts management judgment into decision and action, and exposes the system through GUI and dialogue at the CEO interface; Enterprise Engineering and Service governs the full production environment around it. The value is therefore not merely more completed tasks, but better decisions, stronger business follow-through, and continuous improvement.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7F9F8"/>
          </a:solidFill>
          <a:ln>
            <a:noFill/>
          </a:ln>
        </p:spPr>
      </p:sp>
      <p:grpSp>
        <p:nvGrpSpPr>
          <p:cNvPr id="6" name="Group 6"/>
          <p:cNvGrpSpPr/>
          <p:nvPr/>
        </p:nvGrpSpPr>
        <p:grpSpPr>
          <a:xfrm>
            <a:off x="497205" y="301942"/>
            <a:ext cx="11161395" cy="1022033"/>
            <a:chOff x="497205" y="301942"/>
            <a:chExt cx="11161395" cy="1022033"/>
          </a:xfrm>
        </p:grpSpPr>
        <p:sp>
          <p:nvSpPr>
            <p:cNvPr id="3" name="TextBox 3"/>
            <p:cNvSpPr txBox="1"/>
            <p:nvPr/>
          </p:nvSpPr>
          <p:spPr>
            <a:xfrm>
              <a:off x="497205" y="301942"/>
              <a:ext cx="10333672" cy="1017270"/>
            </a:xfrm>
            <a:prstGeom prst="rect">
              <a:avLst/>
            </a:prstGeom>
            <a:noFill/>
            <a:ln>
              <a:noFill/>
            </a:ln>
          </p:spPr>
          <p:txBody>
            <a:bodyPr wrap="square" lIns="0" tIns="0" rIns="0" bIns="0" anchor="t" anchorCtr="0"/>
            <a:lstStyle/>
            <a:p>
              <a:pPr algn="l">
                <a:lnSpc>
                  <a:spcPts val="3450"/>
                </a:lnSpc>
              </a:pPr>
              <a:r>
                <a:rPr lang="zh-CN" sz="2850" b="1" dirty="0">
                  <a:solidFill>
                    <a:srgbClr val="1F2B2B"/>
                  </a:solidFill>
                  <a:latin typeface="Trebuchet MS"/>
                  <a:ea typeface="Microsoft YaHei"/>
                  <a:cs typeface="Trebuchet MS"/>
                </a:rPr>
                <a:t xml:space="preserve">Boss AI is a continuous enterprise management system, </a:t>
              </a:r>
              <a:r>
                <a:rPr lang="zh-CN" sz="2850" b="1" dirty="0">
                  <a:solidFill>
                    <a:srgbClr val="1F2B2B"/>
                  </a:solidFill>
                  <a:latin typeface="Trebuchet MS"/>
                  <a:ea typeface="Microsoft YaHei"/>
                  <a:cs typeface="Trebuchet MS"/>
                </a:rPr>
                <a:t>not another task-oriented executive assistant.</a:t>
              </a:r>
            </a:p>
          </p:txBody>
        </p:sp>
        <p:sp>
          <p:nvSpPr>
            <p:cNvPr id="4" name="Rectangle 4"/>
            <p:cNvSpPr/>
            <p:nvPr/>
          </p:nvSpPr>
          <p:spPr>
            <a:xfrm>
              <a:off x="533400" y="1295400"/>
              <a:ext cx="838200" cy="28575"/>
            </a:xfrm>
            <a:prstGeom prst="rect">
              <a:avLst/>
            </a:prstGeom>
            <a:solidFill>
              <a:srgbClr val="145849"/>
            </a:solidFill>
            <a:ln>
              <a:noFill/>
            </a:ln>
          </p:spPr>
        </p:sp>
        <p:sp>
          <p:nvSpPr>
            <p:cNvPr id="5" name="Line 5"/>
            <p:cNvSpPr/>
            <p:nvPr/>
          </p:nvSpPr>
          <p:spPr>
            <a:xfrm>
              <a:off x="1485900" y="1309688"/>
              <a:ext cx="10172700" cy="9525"/>
            </a:xfrm>
            <a:custGeom>
              <a:avLst/>
              <a:gdLst/>
              <a:ahLst/>
              <a:cxnLst/>
              <a:rect l="l" t="t" r="r" b="b"/>
              <a:pathLst>
                <a:path w="10172700" h="9525">
                  <a:moveTo>
                    <a:pt x="0" y="0"/>
                  </a:moveTo>
                  <a:lnTo>
                    <a:pt x="10172700" y="0"/>
                  </a:lnTo>
                </a:path>
              </a:pathLst>
            </a:custGeom>
            <a:noFill/>
            <a:ln w="9525">
              <a:solidFill>
                <a:srgbClr val="DDE7E4"/>
              </a:solidFill>
            </a:ln>
          </p:spPr>
        </p:sp>
      </p:grpSp>
      <p:grpSp>
        <p:nvGrpSpPr>
          <p:cNvPr id="16" name="Group 16"/>
          <p:cNvGrpSpPr/>
          <p:nvPr/>
        </p:nvGrpSpPr>
        <p:grpSpPr>
          <a:xfrm>
            <a:off x="510540" y="1563052"/>
            <a:ext cx="3451860" cy="1837373"/>
            <a:chOff x="510540" y="1563052"/>
            <a:chExt cx="3451860" cy="1837373"/>
          </a:xfrm>
        </p:grpSpPr>
        <p:sp>
          <p:nvSpPr>
            <p:cNvPr id="7" name="TextBox 7"/>
            <p:cNvSpPr txBox="1"/>
            <p:nvPr/>
          </p:nvSpPr>
          <p:spPr>
            <a:xfrm>
              <a:off x="520065" y="1563052"/>
              <a:ext cx="1886452" cy="213360"/>
            </a:xfrm>
            <a:prstGeom prst="rect">
              <a:avLst/>
            </a:prstGeom>
            <a:noFill/>
            <a:ln>
              <a:noFill/>
            </a:ln>
          </p:spPr>
          <p:txBody>
            <a:bodyPr wrap="none" lIns="0" tIns="0" rIns="0" bIns="0" anchor="t" anchorCtr="0">
              <a:spAutoFit/>
            </a:bodyPr>
            <a:lstStyle/>
            <a:p>
              <a:pPr algn="l"/>
              <a:r>
                <a:rPr lang="zh-CN" sz="1050" b="1" dirty="0">
                  <a:solidFill>
                    <a:srgbClr val="5E6A68"/>
                  </a:solidFill>
                  <a:latin typeface="Arial"/>
                  <a:ea typeface="Microsoft YaHei"/>
                  <a:cs typeface="Arial"/>
                </a:rPr>
                <a:t>TASK-ORIENTED ASSISTANTS</a:t>
              </a:r>
            </a:p>
          </p:txBody>
        </p:sp>
        <p:sp>
          <p:nvSpPr>
            <p:cNvPr id="8" name="TextBox 8"/>
            <p:cNvSpPr txBox="1"/>
            <p:nvPr/>
          </p:nvSpPr>
          <p:spPr>
            <a:xfrm>
              <a:off x="510540" y="1805940"/>
              <a:ext cx="2364410" cy="365760"/>
            </a:xfrm>
            <a:prstGeom prst="rect">
              <a:avLst/>
            </a:prstGeom>
            <a:noFill/>
            <a:ln>
              <a:noFill/>
            </a:ln>
          </p:spPr>
          <p:txBody>
            <a:bodyPr wrap="none" lIns="0" tIns="0" rIns="0" bIns="0" anchor="t" anchorCtr="0">
              <a:spAutoFit/>
            </a:bodyPr>
            <a:lstStyle/>
            <a:p>
              <a:pPr algn="l"/>
              <a:r>
                <a:rPr lang="zh-CN" sz="1800" b="1" dirty="0">
                  <a:solidFill>
                    <a:srgbClr val="1F2B2B"/>
                  </a:solidFill>
                  <a:latin typeface="Trebuchet MS"/>
                  <a:ea typeface="Microsoft YaHei"/>
                  <a:cs typeface="Trebuchet MS"/>
                </a:rPr>
                <a:t>Hermes + OpenClaw</a:t>
              </a:r>
            </a:p>
          </p:txBody>
        </p:sp>
        <p:sp>
          <p:nvSpPr>
            <p:cNvPr id="9" name="TextBox 9"/>
            <p:cNvSpPr txBox="1"/>
            <p:nvPr/>
          </p:nvSpPr>
          <p:spPr>
            <a:xfrm>
              <a:off x="518160" y="2213610"/>
              <a:ext cx="307715" cy="243840"/>
            </a:xfrm>
            <a:prstGeom prst="rect">
              <a:avLst/>
            </a:prstGeom>
            <a:noFill/>
            <a:ln>
              <a:noFill/>
            </a:ln>
          </p:spPr>
          <p:txBody>
            <a:bodyPr wrap="none" lIns="0" tIns="0" rIns="0" bIns="0" anchor="t" anchorCtr="0">
              <a:spAutoFit/>
            </a:bodyPr>
            <a:lstStyle/>
            <a:p>
              <a:pPr algn="l"/>
              <a:r>
                <a:rPr lang="zh-CN" sz="1200" b="1" dirty="0">
                  <a:solidFill>
                    <a:srgbClr val="5E6A68"/>
                  </a:solidFill>
                  <a:latin typeface="Arial"/>
                  <a:ea typeface="Microsoft YaHei"/>
                  <a:cs typeface="Arial"/>
                </a:rPr>
                <a:t>ASK</a:t>
              </a:r>
            </a:p>
          </p:txBody>
        </p:sp>
        <p:sp>
          <p:nvSpPr>
            <p:cNvPr id="10" name="Line 10"/>
            <p:cNvSpPr/>
            <p:nvPr/>
          </p:nvSpPr>
          <p:spPr>
            <a:xfrm>
              <a:off x="952500" y="2286000"/>
              <a:ext cx="457200" cy="1"/>
            </a:xfrm>
            <a:prstGeom prst="line">
              <a:avLst/>
            </a:prstGeom>
            <a:noFill/>
            <a:ln w="19050">
              <a:solidFill>
                <a:srgbClr val="145849">
                  <a:alpha val="35000"/>
                </a:srgbClr>
              </a:solidFill>
              <a:tailEnd type="triangle" w="lg" len="lg"/>
            </a:ln>
          </p:spPr>
        </p:sp>
        <p:sp>
          <p:nvSpPr>
            <p:cNvPr id="11" name="TextBox 11"/>
            <p:cNvSpPr txBox="1"/>
            <p:nvPr/>
          </p:nvSpPr>
          <p:spPr>
            <a:xfrm>
              <a:off x="1527810" y="2213610"/>
              <a:ext cx="677361" cy="243840"/>
            </a:xfrm>
            <a:prstGeom prst="rect">
              <a:avLst/>
            </a:prstGeom>
            <a:noFill/>
            <a:ln>
              <a:noFill/>
            </a:ln>
          </p:spPr>
          <p:txBody>
            <a:bodyPr wrap="none" lIns="0" tIns="0" rIns="0" bIns="0" anchor="t" anchorCtr="0">
              <a:spAutoFit/>
            </a:bodyPr>
            <a:lstStyle/>
            <a:p>
              <a:pPr algn="l"/>
              <a:r>
                <a:rPr lang="zh-CN" sz="1200" b="1" dirty="0">
                  <a:solidFill>
                    <a:srgbClr val="5E6A68"/>
                  </a:solidFill>
                  <a:latin typeface="Arial"/>
                  <a:ea typeface="Microsoft YaHei"/>
                  <a:cs typeface="Arial"/>
                </a:rPr>
                <a:t>EXECUTE</a:t>
              </a:r>
            </a:p>
          </p:txBody>
        </p:sp>
        <p:sp>
          <p:nvSpPr>
            <p:cNvPr id="12" name="Line 12"/>
            <p:cNvSpPr/>
            <p:nvPr/>
          </p:nvSpPr>
          <p:spPr>
            <a:xfrm>
              <a:off x="2305050" y="2286000"/>
              <a:ext cx="457200" cy="1"/>
            </a:xfrm>
            <a:prstGeom prst="line">
              <a:avLst/>
            </a:prstGeom>
            <a:noFill/>
            <a:ln w="19050">
              <a:solidFill>
                <a:srgbClr val="145849">
                  <a:alpha val="35000"/>
                </a:srgbClr>
              </a:solidFill>
              <a:tailEnd type="triangle" w="lg" len="lg"/>
            </a:ln>
          </p:spPr>
        </p:sp>
        <p:sp>
          <p:nvSpPr>
            <p:cNvPr id="13" name="TextBox 13"/>
            <p:cNvSpPr txBox="1"/>
            <p:nvPr/>
          </p:nvSpPr>
          <p:spPr>
            <a:xfrm>
              <a:off x="2880360" y="2213610"/>
              <a:ext cx="836981" cy="243840"/>
            </a:xfrm>
            <a:prstGeom prst="rect">
              <a:avLst/>
            </a:prstGeom>
            <a:noFill/>
            <a:ln>
              <a:noFill/>
            </a:ln>
          </p:spPr>
          <p:txBody>
            <a:bodyPr wrap="none" lIns="0" tIns="0" rIns="0" bIns="0" anchor="t" anchorCtr="0">
              <a:spAutoFit/>
            </a:bodyPr>
            <a:lstStyle/>
            <a:p>
              <a:pPr algn="l"/>
              <a:r>
                <a:rPr lang="zh-CN" sz="1200" b="1" dirty="0">
                  <a:solidFill>
                    <a:srgbClr val="5E6A68"/>
                  </a:solidFill>
                  <a:latin typeface="Arial"/>
                  <a:ea typeface="Microsoft YaHei"/>
                  <a:cs typeface="Arial"/>
                </a:rPr>
                <a:t>COMPLETE</a:t>
              </a:r>
            </a:p>
          </p:txBody>
        </p:sp>
        <p:sp>
          <p:nvSpPr>
            <p:cNvPr id="14" name="TextBox 14"/>
            <p:cNvSpPr txBox="1"/>
            <p:nvPr/>
          </p:nvSpPr>
          <p:spPr>
            <a:xfrm>
              <a:off x="514350" y="2524125"/>
              <a:ext cx="3038475" cy="838200"/>
            </a:xfrm>
            <a:prstGeom prst="rect">
              <a:avLst/>
            </a:prstGeom>
            <a:noFill/>
            <a:ln>
              <a:noFill/>
            </a:ln>
          </p:spPr>
          <p:txBody>
            <a:bodyPr wrap="square" lIns="0" tIns="0" rIns="0" bIns="0" anchor="t" anchorCtr="0"/>
            <a:lstStyle/>
            <a:p>
              <a:pPr algn="l">
                <a:lnSpc>
                  <a:spcPts val="2100"/>
                </a:lnSpc>
              </a:pPr>
              <a:r>
                <a:rPr lang="zh-CN" sz="1500" dirty="0">
                  <a:solidFill>
                    <a:srgbClr val="5E6A68"/>
                  </a:solidFill>
                  <a:latin typeface="Arial"/>
                  <a:ea typeface="Microsoft YaHei"/>
                  <a:cs typeface="Arial"/>
                </a:rPr>
                <a:t xml:space="preserve">General-purpose agents respond </a:t>
              </a:r>
              <a:r>
                <a:rPr lang="zh-CN" sz="1500" dirty="0">
                  <a:solidFill>
                    <a:srgbClr val="5E6A68"/>
                  </a:solidFill>
                  <a:latin typeface="Arial"/>
                  <a:ea typeface="Microsoft YaHei"/>
                  <a:cs typeface="Arial"/>
                </a:rPr>
                <a:t xml:space="preserve">to instructions and complete </a:t>
              </a:r>
              <a:r>
                <a:rPr lang="zh-CN" sz="1500" dirty="0">
                  <a:solidFill>
                    <a:srgbClr val="5E6A68"/>
                  </a:solidFill>
                  <a:latin typeface="Arial"/>
                  <a:ea typeface="Microsoft YaHei"/>
                  <a:cs typeface="Arial"/>
                </a:rPr>
                <a:t>discrete executive tasks.</a:t>
              </a:r>
            </a:p>
          </p:txBody>
        </p:sp>
        <p:sp>
          <p:nvSpPr>
            <p:cNvPr id="15" name="Line 15"/>
            <p:cNvSpPr/>
            <p:nvPr/>
          </p:nvSpPr>
          <p:spPr>
            <a:xfrm>
              <a:off x="533400" y="3390900"/>
              <a:ext cx="3429000" cy="9525"/>
            </a:xfrm>
            <a:custGeom>
              <a:avLst/>
              <a:gdLst/>
              <a:ahLst/>
              <a:cxnLst/>
              <a:rect l="l" t="t" r="r" b="b"/>
              <a:pathLst>
                <a:path w="3429000" h="9525">
                  <a:moveTo>
                    <a:pt x="0" y="0"/>
                  </a:moveTo>
                  <a:lnTo>
                    <a:pt x="3429000" y="0"/>
                  </a:lnTo>
                </a:path>
              </a:pathLst>
            </a:custGeom>
            <a:noFill/>
            <a:ln w="9525">
              <a:solidFill>
                <a:srgbClr val="DDE7E4"/>
              </a:solidFill>
            </a:ln>
          </p:spPr>
        </p:sp>
      </p:grpSp>
      <p:grpSp>
        <p:nvGrpSpPr>
          <p:cNvPr id="19" name="Group 19"/>
          <p:cNvGrpSpPr/>
          <p:nvPr/>
        </p:nvGrpSpPr>
        <p:grpSpPr>
          <a:xfrm>
            <a:off x="510540" y="3601402"/>
            <a:ext cx="3082099" cy="1199198"/>
            <a:chOff x="510540" y="3601402"/>
            <a:chExt cx="3082099" cy="1199198"/>
          </a:xfrm>
        </p:grpSpPr>
        <p:sp>
          <p:nvSpPr>
            <p:cNvPr id="17" name="TextBox 17"/>
            <p:cNvSpPr txBox="1"/>
            <p:nvPr/>
          </p:nvSpPr>
          <p:spPr>
            <a:xfrm>
              <a:off x="520065" y="3601402"/>
              <a:ext cx="2584790" cy="213360"/>
            </a:xfrm>
            <a:prstGeom prst="rect">
              <a:avLst/>
            </a:prstGeom>
            <a:noFill/>
            <a:ln>
              <a:noFill/>
            </a:ln>
          </p:spPr>
          <p:txBody>
            <a:bodyPr wrap="none" lIns="0" tIns="0" rIns="0" bIns="0" anchor="t" anchorCtr="0">
              <a:spAutoFit/>
            </a:bodyPr>
            <a:lstStyle/>
            <a:p>
              <a:pPr algn="l"/>
              <a:r>
                <a:rPr lang="zh-CN" sz="1050" b="1" dirty="0">
                  <a:solidFill>
                    <a:srgbClr val="145849"/>
                  </a:solidFill>
                  <a:latin typeface="Arial"/>
                  <a:ea typeface="Microsoft YaHei"/>
                  <a:cs typeface="Arial"/>
                </a:rPr>
                <a:t>CONTINUOUS ENTERPRISE MANAGEMENT</a:t>
              </a:r>
            </a:p>
          </p:txBody>
        </p:sp>
        <p:sp>
          <p:nvSpPr>
            <p:cNvPr id="18" name="TextBox 18"/>
            <p:cNvSpPr txBox="1"/>
            <p:nvPr/>
          </p:nvSpPr>
          <p:spPr>
            <a:xfrm>
              <a:off x="510540" y="3863340"/>
              <a:ext cx="3082099" cy="937260"/>
            </a:xfrm>
            <a:prstGeom prst="rect">
              <a:avLst/>
            </a:prstGeom>
            <a:noFill/>
            <a:ln>
              <a:noFill/>
            </a:ln>
          </p:spPr>
          <p:txBody>
            <a:bodyPr wrap="square" lIns="0" tIns="0" rIns="0" bIns="0" anchor="t" anchorCtr="0"/>
            <a:lstStyle/>
            <a:p>
              <a:pPr algn="l">
                <a:lnSpc>
                  <a:spcPts val="2250"/>
                </a:lnSpc>
              </a:pPr>
              <a:r>
                <a:rPr lang="zh-CN" sz="1800" b="1" dirty="0">
                  <a:solidFill>
                    <a:srgbClr val="145849"/>
                  </a:solidFill>
                  <a:latin typeface="Trebuchet MS"/>
                  <a:ea typeface="Microsoft YaHei"/>
                  <a:cs typeface="Trebuchet MS"/>
                </a:rPr>
                <a:t xml:space="preserve">Boss AI continuously </a:t>
              </a:r>
              <a:r>
                <a:rPr lang="zh-CN" sz="1800" b="1" dirty="0">
                  <a:solidFill>
                    <a:srgbClr val="145849"/>
                  </a:solidFill>
                  <a:latin typeface="Trebuchet MS"/>
                  <a:ea typeface="Microsoft YaHei"/>
                  <a:cs typeface="Trebuchet MS"/>
                </a:rPr>
                <a:t xml:space="preserve">understands and improves </a:t>
              </a:r>
              <a:r>
                <a:rPr lang="zh-CN" sz="1800" b="1" dirty="0">
                  <a:solidFill>
                    <a:srgbClr val="145849"/>
                  </a:solidFill>
                  <a:latin typeface="Trebuchet MS"/>
                  <a:ea typeface="Microsoft YaHei"/>
                  <a:cs typeface="Trebuchet MS"/>
                </a:rPr>
                <a:t>the business.</a:t>
              </a:r>
            </a:p>
          </p:txBody>
        </p:sp>
      </p:grpSp>
      <p:grpSp>
        <p:nvGrpSpPr>
          <p:cNvPr id="22" name="Group 22"/>
          <p:cNvGrpSpPr/>
          <p:nvPr/>
        </p:nvGrpSpPr>
        <p:grpSpPr>
          <a:xfrm>
            <a:off x="533400" y="4762500"/>
            <a:ext cx="3695700" cy="781050"/>
            <a:chOff x="533400" y="4762500"/>
            <a:chExt cx="3695700" cy="781050"/>
          </a:xfrm>
        </p:grpSpPr>
        <p:sp>
          <p:nvSpPr>
            <p:cNvPr id="20" name="Rectangle 20"/>
            <p:cNvSpPr/>
            <p:nvPr/>
          </p:nvSpPr>
          <p:spPr>
            <a:xfrm>
              <a:off x="533400" y="4762500"/>
              <a:ext cx="28575" cy="742950"/>
            </a:xfrm>
            <a:prstGeom prst="rect">
              <a:avLst/>
            </a:prstGeom>
            <a:solidFill>
              <a:srgbClr val="145849"/>
            </a:solidFill>
            <a:ln>
              <a:noFill/>
            </a:ln>
          </p:spPr>
        </p:sp>
        <p:sp>
          <p:nvSpPr>
            <p:cNvPr id="21" name="TextBox 21"/>
            <p:cNvSpPr txBox="1"/>
            <p:nvPr/>
          </p:nvSpPr>
          <p:spPr>
            <a:xfrm>
              <a:off x="708660" y="4766310"/>
              <a:ext cx="3520440" cy="777240"/>
            </a:xfrm>
            <a:prstGeom prst="rect">
              <a:avLst/>
            </a:prstGeom>
            <a:noFill/>
            <a:ln>
              <a:noFill/>
            </a:ln>
          </p:spPr>
          <p:txBody>
            <a:bodyPr wrap="square" lIns="0" tIns="0" rIns="0" bIns="0" anchor="t" anchorCtr="0"/>
            <a:lstStyle/>
            <a:p>
              <a:pPr algn="l">
                <a:lnSpc>
                  <a:spcPts val="2100"/>
                </a:lnSpc>
              </a:pPr>
              <a:r>
                <a:rPr lang="zh-CN" sz="1200" b="1" dirty="0">
                  <a:solidFill>
                    <a:srgbClr val="145849"/>
                  </a:solidFill>
                  <a:latin typeface="Arial"/>
                  <a:ea typeface="Microsoft YaHei"/>
                  <a:cs typeface="Arial"/>
                </a:rPr>
                <a:t>Sense</a:t>
              </a:r>
              <a:r>
                <a:rPr lang="zh-CN" sz="1200" dirty="0">
                  <a:solidFill>
                    <a:srgbClr val="1F2B2B"/>
                  </a:solidFill>
                  <a:latin typeface="Arial"/>
                  <a:ea typeface="Microsoft YaHei"/>
                  <a:cs typeface="Arial"/>
                </a:rPr>
                <a:t xml:space="preserve"> enterprise change continuously </a:t>
              </a:r>
              <a:r>
                <a:rPr lang="zh-CN" sz="1200" b="1" dirty="0">
                  <a:solidFill>
                    <a:srgbClr val="145849"/>
                  </a:solidFill>
                  <a:latin typeface="Arial"/>
                  <a:ea typeface="Microsoft YaHei"/>
                  <a:cs typeface="Arial"/>
                </a:rPr>
                <a:t>Connect</a:t>
              </a:r>
              <a:r>
                <a:rPr lang="zh-CN" sz="1200" dirty="0">
                  <a:solidFill>
                    <a:srgbClr val="1F2B2B"/>
                  </a:solidFill>
                  <a:latin typeface="Arial"/>
                  <a:ea typeface="Microsoft YaHei"/>
                  <a:cs typeface="Arial"/>
                </a:rPr>
                <a:t xml:space="preserve"> judgment, execution and interaction </a:t>
              </a:r>
              <a:r>
                <a:rPr lang="zh-CN" sz="1200" b="1" dirty="0">
                  <a:solidFill>
                    <a:srgbClr val="064FA0"/>
                  </a:solidFill>
                  <a:latin typeface="Arial"/>
                  <a:ea typeface="Microsoft YaHei"/>
                  <a:cs typeface="Arial"/>
                </a:rPr>
                <a:t>Measure</a:t>
              </a:r>
              <a:r>
                <a:rPr lang="zh-CN" sz="1200" dirty="0">
                  <a:solidFill>
                    <a:srgbClr val="1F2B2B"/>
                  </a:solidFill>
                  <a:latin typeface="Arial"/>
                  <a:ea typeface="Microsoft YaHei"/>
                  <a:cs typeface="Arial"/>
                </a:rPr>
                <a:t xml:space="preserve"> decisions and business follow-through</a:t>
              </a:r>
            </a:p>
          </p:txBody>
        </p:sp>
      </p:grpSp>
      <p:sp>
        <p:nvSpPr>
          <p:cNvPr id="23" name="Line 23"/>
          <p:cNvSpPr/>
          <p:nvPr/>
        </p:nvSpPr>
        <p:spPr>
          <a:xfrm>
            <a:off x="4343400" y="1581150"/>
            <a:ext cx="9525" cy="4000500"/>
          </a:xfrm>
          <a:custGeom>
            <a:avLst/>
            <a:gdLst/>
            <a:ahLst/>
            <a:cxnLst/>
            <a:rect l="l" t="t" r="r" b="b"/>
            <a:pathLst>
              <a:path w="9525" h="4000500">
                <a:moveTo>
                  <a:pt x="0" y="0"/>
                </a:moveTo>
                <a:lnTo>
                  <a:pt x="0" y="4000500"/>
                </a:lnTo>
              </a:path>
            </a:pathLst>
          </a:custGeom>
          <a:noFill/>
          <a:ln w="9525">
            <a:solidFill>
              <a:srgbClr val="DDE7E4"/>
            </a:solidFill>
          </a:ln>
        </p:spPr>
      </p:sp>
      <p:grpSp>
        <p:nvGrpSpPr>
          <p:cNvPr id="77" name="Group 77"/>
          <p:cNvGrpSpPr/>
          <p:nvPr/>
        </p:nvGrpSpPr>
        <p:grpSpPr>
          <a:xfrm>
            <a:off x="4672965" y="1563052"/>
            <a:ext cx="6985635" cy="4018598"/>
            <a:chOff x="4672965" y="1563052"/>
            <a:chExt cx="6985635" cy="4018598"/>
          </a:xfrm>
        </p:grpSpPr>
        <p:sp>
          <p:nvSpPr>
            <p:cNvPr id="24" name="TextBox 24"/>
            <p:cNvSpPr txBox="1"/>
            <p:nvPr/>
          </p:nvSpPr>
          <p:spPr>
            <a:xfrm>
              <a:off x="4672965" y="1563052"/>
              <a:ext cx="3018494" cy="213360"/>
            </a:xfrm>
            <a:prstGeom prst="rect">
              <a:avLst/>
            </a:prstGeom>
            <a:noFill/>
            <a:ln>
              <a:noFill/>
            </a:ln>
          </p:spPr>
          <p:txBody>
            <a:bodyPr wrap="none" lIns="0" tIns="0" rIns="0" bIns="0" anchor="t" anchorCtr="0">
              <a:spAutoFit/>
            </a:bodyPr>
            <a:lstStyle/>
            <a:p>
              <a:pPr algn="l"/>
              <a:r>
                <a:rPr lang="zh-CN" sz="1050" b="1" dirty="0">
                  <a:solidFill>
                    <a:srgbClr val="145849"/>
                  </a:solidFill>
                  <a:latin typeface="Arial"/>
                  <a:ea typeface="Microsoft YaHei"/>
                  <a:cs typeface="Arial"/>
                </a:rPr>
                <a:t>BOSS AI / CONTINUOUS MANAGEMENT SYSTEM</a:t>
              </a:r>
            </a:p>
          </p:txBody>
        </p:sp>
        <p:sp>
          <p:nvSpPr>
            <p:cNvPr id="25" name="Rectangle 25"/>
            <p:cNvSpPr/>
            <p:nvPr/>
          </p:nvSpPr>
          <p:spPr>
            <a:xfrm>
              <a:off x="4686300" y="1847850"/>
              <a:ext cx="6972300" cy="3733800"/>
            </a:xfrm>
            <a:prstGeom prst="rect">
              <a:avLst/>
            </a:prstGeom>
            <a:solidFill>
              <a:srgbClr val="FFFFFF"/>
            </a:solidFill>
            <a:ln w="19050">
              <a:solidFill>
                <a:srgbClr val="145849"/>
              </a:solidFill>
            </a:ln>
          </p:spPr>
        </p:sp>
        <p:sp>
          <p:nvSpPr>
            <p:cNvPr id="26" name="Rectangle 26"/>
            <p:cNvSpPr/>
            <p:nvPr/>
          </p:nvSpPr>
          <p:spPr>
            <a:xfrm>
              <a:off x="4686300" y="1847850"/>
              <a:ext cx="6972300" cy="361950"/>
            </a:xfrm>
            <a:prstGeom prst="rect">
              <a:avLst/>
            </a:prstGeom>
            <a:solidFill>
              <a:srgbClr val="EDF3F1"/>
            </a:solidFill>
            <a:ln>
              <a:noFill/>
            </a:ln>
          </p:spPr>
        </p:sp>
        <p:grpSp>
          <p:nvGrpSpPr>
            <p:cNvPr id="31" name="Group 31"/>
            <p:cNvGrpSpPr/>
            <p:nvPr/>
          </p:nvGrpSpPr>
          <p:grpSpPr>
            <a:xfrm>
              <a:off x="4882144" y="1938919"/>
              <a:ext cx="179813" cy="179813"/>
              <a:chOff x="4882144" y="1938919"/>
              <a:chExt cx="179813" cy="179813"/>
            </a:xfrm>
          </p:grpSpPr>
          <p:sp>
            <p:nvSpPr>
              <p:cNvPr id="27" name="Freeform 27"/>
              <p:cNvSpPr/>
              <p:nvPr/>
            </p:nvSpPr>
            <p:spPr>
              <a:xfrm>
                <a:off x="4882144" y="1938919"/>
                <a:ext cx="179813" cy="179813"/>
              </a:xfrm>
              <a:custGeom>
                <a:avLst/>
                <a:gdLst/>
                <a:ahLst/>
                <a:cxnLst/>
                <a:rect l="l" t="t" r="r" b="b"/>
                <a:pathLst>
                  <a:path w="179813" h="179813">
                    <a:moveTo>
                      <a:pt x="73952" y="16726"/>
                    </a:moveTo>
                    <a:cubicBezTo>
                      <a:pt x="78010" y="0"/>
                      <a:pt x="101803" y="0"/>
                      <a:pt x="105861" y="16726"/>
                    </a:cubicBezTo>
                    <a:cubicBezTo>
                      <a:pt x="107096" y="21822"/>
                      <a:pt x="110690" y="26023"/>
                      <a:pt x="115535" y="28030"/>
                    </a:cubicBezTo>
                    <a:cubicBezTo>
                      <a:pt x="120380" y="30037"/>
                      <a:pt x="125891" y="29609"/>
                      <a:pt x="130369" y="26880"/>
                    </a:cubicBezTo>
                    <a:cubicBezTo>
                      <a:pt x="145066" y="17926"/>
                      <a:pt x="161896" y="34747"/>
                      <a:pt x="152943" y="49454"/>
                    </a:cubicBezTo>
                    <a:cubicBezTo>
                      <a:pt x="150217" y="53929"/>
                      <a:pt x="149791" y="59437"/>
                      <a:pt x="151795" y="64278"/>
                    </a:cubicBezTo>
                    <a:cubicBezTo>
                      <a:pt x="153800" y="69120"/>
                      <a:pt x="157995" y="72714"/>
                      <a:pt x="163087" y="73952"/>
                    </a:cubicBezTo>
                    <a:cubicBezTo>
                      <a:pt x="179813" y="78010"/>
                      <a:pt x="179813" y="101803"/>
                      <a:pt x="163087" y="105861"/>
                    </a:cubicBezTo>
                    <a:cubicBezTo>
                      <a:pt x="157991" y="107096"/>
                      <a:pt x="153790" y="110690"/>
                      <a:pt x="151783" y="115535"/>
                    </a:cubicBezTo>
                    <a:cubicBezTo>
                      <a:pt x="149776" y="120380"/>
                      <a:pt x="150204" y="125891"/>
                      <a:pt x="152933" y="130369"/>
                    </a:cubicBezTo>
                    <a:cubicBezTo>
                      <a:pt x="161887" y="145066"/>
                      <a:pt x="145066" y="161896"/>
                      <a:pt x="130359" y="152943"/>
                    </a:cubicBezTo>
                    <a:cubicBezTo>
                      <a:pt x="125884" y="150217"/>
                      <a:pt x="120376" y="149791"/>
                      <a:pt x="115535" y="151795"/>
                    </a:cubicBezTo>
                    <a:cubicBezTo>
                      <a:pt x="110693" y="153800"/>
                      <a:pt x="107099" y="157995"/>
                      <a:pt x="105861" y="163087"/>
                    </a:cubicBezTo>
                    <a:cubicBezTo>
                      <a:pt x="101803" y="179813"/>
                      <a:pt x="78010" y="179813"/>
                      <a:pt x="73952" y="163087"/>
                    </a:cubicBezTo>
                    <a:cubicBezTo>
                      <a:pt x="72717" y="157991"/>
                      <a:pt x="69123" y="153790"/>
                      <a:pt x="64278" y="151783"/>
                    </a:cubicBezTo>
                    <a:cubicBezTo>
                      <a:pt x="59433" y="149776"/>
                      <a:pt x="53922" y="150204"/>
                      <a:pt x="49444" y="152933"/>
                    </a:cubicBezTo>
                    <a:cubicBezTo>
                      <a:pt x="34747" y="161887"/>
                      <a:pt x="17917" y="145066"/>
                      <a:pt x="26870" y="130359"/>
                    </a:cubicBezTo>
                    <a:cubicBezTo>
                      <a:pt x="29596" y="125884"/>
                      <a:pt x="30022" y="120376"/>
                      <a:pt x="28018" y="115535"/>
                    </a:cubicBezTo>
                    <a:cubicBezTo>
                      <a:pt x="26013" y="110693"/>
                      <a:pt x="21818" y="107099"/>
                      <a:pt x="16726" y="105861"/>
                    </a:cubicBezTo>
                    <a:cubicBezTo>
                      <a:pt x="0" y="101803"/>
                      <a:pt x="0" y="78010"/>
                      <a:pt x="16726" y="73952"/>
                    </a:cubicBezTo>
                    <a:cubicBezTo>
                      <a:pt x="21822" y="72717"/>
                      <a:pt x="26023" y="69123"/>
                      <a:pt x="28030" y="64278"/>
                    </a:cubicBezTo>
                    <a:cubicBezTo>
                      <a:pt x="30037" y="59433"/>
                      <a:pt x="29609" y="53922"/>
                      <a:pt x="26880" y="49444"/>
                    </a:cubicBezTo>
                    <a:cubicBezTo>
                      <a:pt x="17926" y="34747"/>
                      <a:pt x="34747" y="17917"/>
                      <a:pt x="49454" y="26870"/>
                    </a:cubicBezTo>
                    <a:cubicBezTo>
                      <a:pt x="58979" y="32661"/>
                      <a:pt x="71323" y="27537"/>
                      <a:pt x="73952" y="16726"/>
                    </a:cubicBezTo>
                  </a:path>
                </a:pathLst>
              </a:custGeom>
              <a:noFill/>
              <a:ln w="19050">
                <a:solidFill>
                  <a:srgbClr val="145849"/>
                </a:solidFill>
              </a:ln>
            </p:spPr>
          </p:sp>
          <p:sp>
            <p:nvSpPr>
              <p:cNvPr id="28" name="Freeform 28"/>
              <p:cNvSpPr/>
              <p:nvPr/>
            </p:nvSpPr>
            <p:spPr>
              <a:xfrm>
                <a:off x="4943475" y="2009775"/>
                <a:ext cx="28575" cy="38100"/>
              </a:xfrm>
              <a:custGeom>
                <a:avLst/>
                <a:gdLst/>
                <a:ahLst/>
                <a:cxnLst/>
                <a:rect l="l" t="t" r="r" b="b"/>
                <a:pathLst>
                  <a:path w="28575" h="38100">
                    <a:moveTo>
                      <a:pt x="0" y="38100"/>
                    </a:moveTo>
                    <a:lnTo>
                      <a:pt x="0" y="14288"/>
                    </a:lnTo>
                    <a:cubicBezTo>
                      <a:pt x="0" y="6397"/>
                      <a:pt x="6397" y="0"/>
                      <a:pt x="14288" y="0"/>
                    </a:cubicBezTo>
                    <a:cubicBezTo>
                      <a:pt x="22178" y="0"/>
                      <a:pt x="28575" y="6397"/>
                      <a:pt x="28575" y="14288"/>
                    </a:cubicBezTo>
                    <a:lnTo>
                      <a:pt x="28575" y="38100"/>
                    </a:lnTo>
                  </a:path>
                </a:pathLst>
              </a:custGeom>
              <a:noFill/>
              <a:ln w="19050">
                <a:solidFill>
                  <a:srgbClr val="145849"/>
                </a:solidFill>
              </a:ln>
            </p:spPr>
          </p:sp>
          <p:sp>
            <p:nvSpPr>
              <p:cNvPr id="29" name="Freeform 29"/>
              <p:cNvSpPr/>
              <p:nvPr/>
            </p:nvSpPr>
            <p:spPr>
              <a:xfrm>
                <a:off x="4943475" y="2038350"/>
                <a:ext cx="28575" cy="9525"/>
              </a:xfrm>
              <a:custGeom>
                <a:avLst/>
                <a:gdLst/>
                <a:ahLst/>
                <a:cxnLst/>
                <a:rect l="l" t="t" r="r" b="b"/>
                <a:pathLst>
                  <a:path w="28575" h="9525">
                    <a:moveTo>
                      <a:pt x="0" y="0"/>
                    </a:moveTo>
                    <a:lnTo>
                      <a:pt x="28575" y="0"/>
                    </a:lnTo>
                  </a:path>
                </a:pathLst>
              </a:custGeom>
              <a:noFill/>
              <a:ln w="19050">
                <a:solidFill>
                  <a:srgbClr val="145849"/>
                </a:solidFill>
              </a:ln>
            </p:spPr>
          </p:sp>
          <p:sp>
            <p:nvSpPr>
              <p:cNvPr id="30" name="Freeform 30"/>
              <p:cNvSpPr/>
              <p:nvPr/>
            </p:nvSpPr>
            <p:spPr>
              <a:xfrm>
                <a:off x="5000625" y="2009775"/>
                <a:ext cx="9525" cy="38100"/>
              </a:xfrm>
              <a:custGeom>
                <a:avLst/>
                <a:gdLst/>
                <a:ahLst/>
                <a:cxnLst/>
                <a:rect l="l" t="t" r="r" b="b"/>
                <a:pathLst>
                  <a:path w="9525" h="38100">
                    <a:moveTo>
                      <a:pt x="0" y="0"/>
                    </a:moveTo>
                    <a:lnTo>
                      <a:pt x="0" y="38100"/>
                    </a:lnTo>
                  </a:path>
                </a:pathLst>
              </a:custGeom>
              <a:noFill/>
              <a:ln w="19050">
                <a:solidFill>
                  <a:srgbClr val="145849"/>
                </a:solidFill>
              </a:ln>
            </p:spPr>
          </p:sp>
        </p:grpSp>
        <p:sp>
          <p:nvSpPr>
            <p:cNvPr id="32" name="TextBox 32"/>
            <p:cNvSpPr txBox="1"/>
            <p:nvPr/>
          </p:nvSpPr>
          <p:spPr>
            <a:xfrm>
              <a:off x="5168265" y="1982152"/>
              <a:ext cx="2356911" cy="213360"/>
            </a:xfrm>
            <a:prstGeom prst="rect">
              <a:avLst/>
            </a:prstGeom>
            <a:noFill/>
            <a:ln>
              <a:noFill/>
            </a:ln>
          </p:spPr>
          <p:txBody>
            <a:bodyPr wrap="none" lIns="0" tIns="0" rIns="0" bIns="0" anchor="t" anchorCtr="0">
              <a:spAutoFit/>
            </a:bodyPr>
            <a:lstStyle/>
            <a:p>
              <a:pPr algn="l"/>
              <a:r>
                <a:rPr lang="zh-CN" sz="1050" b="1" dirty="0">
                  <a:solidFill>
                    <a:srgbClr val="145849"/>
                  </a:solidFill>
                  <a:latin typeface="Arial"/>
                  <a:ea typeface="Microsoft YaHei"/>
                  <a:cs typeface="Arial"/>
                </a:rPr>
                <a:t>ENTERPRISE ENGINEERING &amp; SERVICE</a:t>
              </a:r>
            </a:p>
          </p:txBody>
        </p:sp>
        <p:sp>
          <p:nvSpPr>
            <p:cNvPr id="33" name="TextBox 33"/>
            <p:cNvSpPr txBox="1"/>
            <p:nvPr/>
          </p:nvSpPr>
          <p:spPr>
            <a:xfrm>
              <a:off x="9755172" y="1982152"/>
              <a:ext cx="1573863" cy="213360"/>
            </a:xfrm>
            <a:prstGeom prst="rect">
              <a:avLst/>
            </a:prstGeom>
            <a:noFill/>
            <a:ln>
              <a:noFill/>
            </a:ln>
          </p:spPr>
          <p:txBody>
            <a:bodyPr wrap="none" lIns="0" tIns="0" rIns="0" bIns="0" anchor="t" anchorCtr="0">
              <a:spAutoFit/>
            </a:bodyPr>
            <a:lstStyle/>
            <a:p>
              <a:pPr algn="r"/>
              <a:r>
                <a:rPr lang="zh-CN" sz="1050" dirty="0">
                  <a:solidFill>
                    <a:srgbClr val="5E6A68"/>
                  </a:solidFill>
                  <a:latin typeface="Arial"/>
                  <a:ea typeface="Microsoft YaHei"/>
                  <a:cs typeface="Arial"/>
                </a:rPr>
                <a:t>production governance</a:t>
              </a:r>
            </a:p>
          </p:txBody>
        </p:sp>
        <p:sp>
          <p:nvSpPr>
            <p:cNvPr id="34" name="Line 34"/>
            <p:cNvSpPr/>
            <p:nvPr/>
          </p:nvSpPr>
          <p:spPr>
            <a:xfrm flipV="1">
              <a:off x="5124450" y="2590800"/>
              <a:ext cx="1" cy="2305050"/>
            </a:xfrm>
            <a:prstGeom prst="line">
              <a:avLst/>
            </a:prstGeom>
            <a:noFill/>
            <a:ln w="19050">
              <a:solidFill>
                <a:srgbClr val="145849"/>
              </a:solidFill>
              <a:tailEnd type="triangle" w="lg" len="lg"/>
            </a:ln>
          </p:spPr>
        </p:sp>
        <p:sp>
          <p:nvSpPr>
            <p:cNvPr id="35" name="TextBox 35"/>
            <p:cNvSpPr txBox="1"/>
            <p:nvPr/>
          </p:nvSpPr>
          <p:spPr>
            <a:xfrm>
              <a:off x="5263515" y="2610802"/>
              <a:ext cx="960237" cy="213360"/>
            </a:xfrm>
            <a:prstGeom prst="rect">
              <a:avLst/>
            </a:prstGeom>
            <a:noFill/>
            <a:ln>
              <a:noFill/>
            </a:ln>
          </p:spPr>
          <p:txBody>
            <a:bodyPr wrap="none" lIns="0" tIns="0" rIns="0" bIns="0" anchor="t" anchorCtr="0">
              <a:spAutoFit/>
            </a:bodyPr>
            <a:lstStyle/>
            <a:p>
              <a:pPr algn="l"/>
              <a:r>
                <a:rPr lang="zh-CN" sz="1050" b="1" dirty="0">
                  <a:solidFill>
                    <a:srgbClr val="145849"/>
                  </a:solidFill>
                  <a:latin typeface="Arial"/>
                  <a:ea typeface="Microsoft YaHei"/>
                  <a:cs typeface="Arial"/>
                </a:rPr>
                <a:t>SENSE CHANGE</a:t>
              </a:r>
            </a:p>
          </p:txBody>
        </p:sp>
        <p:sp>
          <p:nvSpPr>
            <p:cNvPr id="36" name="Line 36"/>
            <p:cNvSpPr/>
            <p:nvPr/>
          </p:nvSpPr>
          <p:spPr>
            <a:xfrm>
              <a:off x="11239500" y="2590800"/>
              <a:ext cx="1" cy="2305050"/>
            </a:xfrm>
            <a:prstGeom prst="line">
              <a:avLst/>
            </a:prstGeom>
            <a:noFill/>
            <a:ln w="19050">
              <a:solidFill>
                <a:srgbClr val="064FA0"/>
              </a:solidFill>
              <a:tailEnd type="triangle" w="lg" len="lg"/>
            </a:ln>
          </p:spPr>
        </p:sp>
        <p:sp>
          <p:nvSpPr>
            <p:cNvPr id="37" name="TextBox 37"/>
            <p:cNvSpPr txBox="1"/>
            <p:nvPr/>
          </p:nvSpPr>
          <p:spPr>
            <a:xfrm>
              <a:off x="9341951" y="2229802"/>
              <a:ext cx="1739434" cy="213360"/>
            </a:xfrm>
            <a:prstGeom prst="rect">
              <a:avLst/>
            </a:prstGeom>
            <a:noFill/>
            <a:ln>
              <a:noFill/>
            </a:ln>
          </p:spPr>
          <p:txBody>
            <a:bodyPr wrap="none" lIns="0" tIns="0" rIns="0" bIns="0" anchor="t" anchorCtr="0">
              <a:spAutoFit/>
            </a:bodyPr>
            <a:lstStyle/>
            <a:p>
              <a:pPr algn="r"/>
              <a:r>
                <a:rPr lang="zh-CN" sz="1050" b="1" dirty="0">
                  <a:solidFill>
                    <a:srgbClr val="064FA0"/>
                  </a:solidFill>
                  <a:latin typeface="Arial"/>
                  <a:ea typeface="Microsoft YaHei"/>
                  <a:cs typeface="Arial"/>
                </a:rPr>
                <a:t>EXECUTE · LEARN · ADAPT</a:t>
              </a:r>
            </a:p>
          </p:txBody>
        </p:sp>
        <p:sp>
          <p:nvSpPr>
            <p:cNvPr id="38" name="Rectangle 38"/>
            <p:cNvSpPr/>
            <p:nvPr/>
          </p:nvSpPr>
          <p:spPr>
            <a:xfrm>
              <a:off x="5810250" y="4648200"/>
              <a:ext cx="4800600" cy="590550"/>
            </a:xfrm>
            <a:prstGeom prst="roundRect">
              <a:avLst>
                <a:gd name="adj" fmla="val 3226"/>
              </a:avLst>
            </a:prstGeom>
            <a:solidFill>
              <a:srgbClr val="EDF3F1"/>
            </a:solidFill>
            <a:ln w="9525">
              <a:solidFill>
                <a:srgbClr val="B7D3CD"/>
              </a:solidFill>
            </a:ln>
          </p:spPr>
        </p:sp>
        <p:grpSp>
          <p:nvGrpSpPr>
            <p:cNvPr id="46" name="Group 46"/>
            <p:cNvGrpSpPr/>
            <p:nvPr/>
          </p:nvGrpSpPr>
          <p:grpSpPr>
            <a:xfrm>
              <a:off x="6060281" y="4824412"/>
              <a:ext cx="178594" cy="238125"/>
              <a:chOff x="6060281" y="4824412"/>
              <a:chExt cx="178594" cy="238125"/>
            </a:xfrm>
          </p:grpSpPr>
          <p:sp>
            <p:nvSpPr>
              <p:cNvPr id="39" name="Freeform 39"/>
              <p:cNvSpPr/>
              <p:nvPr/>
            </p:nvSpPr>
            <p:spPr>
              <a:xfrm>
                <a:off x="6060281" y="4824412"/>
                <a:ext cx="59531" cy="47625"/>
              </a:xfrm>
              <a:custGeom>
                <a:avLst/>
                <a:gdLst/>
                <a:ahLst/>
                <a:cxnLst/>
                <a:rect l="l" t="t" r="r" b="b"/>
                <a:pathLst>
                  <a:path w="59531" h="47625">
                    <a:moveTo>
                      <a:pt x="0" y="0"/>
                    </a:moveTo>
                    <a:lnTo>
                      <a:pt x="59531" y="0"/>
                    </a:lnTo>
                    <a:lnTo>
                      <a:pt x="59531" y="47625"/>
                    </a:lnTo>
                    <a:lnTo>
                      <a:pt x="0" y="47625"/>
                    </a:lnTo>
                    <a:lnTo>
                      <a:pt x="0" y="0"/>
                    </a:lnTo>
                  </a:path>
                </a:pathLst>
              </a:custGeom>
              <a:noFill/>
              <a:ln w="19050">
                <a:solidFill>
                  <a:srgbClr val="145849"/>
                </a:solidFill>
              </a:ln>
            </p:spPr>
          </p:sp>
          <p:sp>
            <p:nvSpPr>
              <p:cNvPr id="40" name="Freeform 40"/>
              <p:cNvSpPr/>
              <p:nvPr/>
            </p:nvSpPr>
            <p:spPr>
              <a:xfrm>
                <a:off x="6179344" y="4919662"/>
                <a:ext cx="59531" cy="47625"/>
              </a:xfrm>
              <a:custGeom>
                <a:avLst/>
                <a:gdLst/>
                <a:ahLst/>
                <a:cxnLst/>
                <a:rect l="l" t="t" r="r" b="b"/>
                <a:pathLst>
                  <a:path w="59531" h="47625">
                    <a:moveTo>
                      <a:pt x="0" y="0"/>
                    </a:moveTo>
                    <a:lnTo>
                      <a:pt x="59531" y="0"/>
                    </a:lnTo>
                    <a:lnTo>
                      <a:pt x="59531" y="47625"/>
                    </a:lnTo>
                    <a:lnTo>
                      <a:pt x="0" y="47625"/>
                    </a:lnTo>
                    <a:lnTo>
                      <a:pt x="0" y="0"/>
                    </a:lnTo>
                  </a:path>
                </a:pathLst>
              </a:custGeom>
              <a:noFill/>
              <a:ln w="19050">
                <a:solidFill>
                  <a:srgbClr val="145849"/>
                </a:solidFill>
              </a:ln>
            </p:spPr>
          </p:sp>
          <p:sp>
            <p:nvSpPr>
              <p:cNvPr id="41" name="Freeform 41"/>
              <p:cNvSpPr/>
              <p:nvPr/>
            </p:nvSpPr>
            <p:spPr>
              <a:xfrm>
                <a:off x="6060281" y="5014912"/>
                <a:ext cx="59531" cy="47625"/>
              </a:xfrm>
              <a:custGeom>
                <a:avLst/>
                <a:gdLst/>
                <a:ahLst/>
                <a:cxnLst/>
                <a:rect l="l" t="t" r="r" b="b"/>
                <a:pathLst>
                  <a:path w="59531" h="47625">
                    <a:moveTo>
                      <a:pt x="0" y="0"/>
                    </a:moveTo>
                    <a:lnTo>
                      <a:pt x="59531" y="0"/>
                    </a:lnTo>
                    <a:lnTo>
                      <a:pt x="59531" y="47625"/>
                    </a:lnTo>
                    <a:lnTo>
                      <a:pt x="0" y="47625"/>
                    </a:lnTo>
                    <a:lnTo>
                      <a:pt x="0" y="0"/>
                    </a:lnTo>
                  </a:path>
                </a:pathLst>
              </a:custGeom>
              <a:noFill/>
              <a:ln w="19050">
                <a:solidFill>
                  <a:srgbClr val="145849"/>
                </a:solidFill>
              </a:ln>
            </p:spPr>
          </p:sp>
          <p:sp>
            <p:nvSpPr>
              <p:cNvPr id="42" name="Freeform 42"/>
              <p:cNvSpPr/>
              <p:nvPr/>
            </p:nvSpPr>
            <p:spPr>
              <a:xfrm>
                <a:off x="6060281" y="4919662"/>
                <a:ext cx="59531" cy="47625"/>
              </a:xfrm>
              <a:custGeom>
                <a:avLst/>
                <a:gdLst/>
                <a:ahLst/>
                <a:cxnLst/>
                <a:rect l="l" t="t" r="r" b="b"/>
                <a:pathLst>
                  <a:path w="59531" h="47625">
                    <a:moveTo>
                      <a:pt x="0" y="0"/>
                    </a:moveTo>
                    <a:lnTo>
                      <a:pt x="59531" y="0"/>
                    </a:lnTo>
                    <a:lnTo>
                      <a:pt x="59531" y="47625"/>
                    </a:lnTo>
                    <a:lnTo>
                      <a:pt x="0" y="47625"/>
                    </a:lnTo>
                    <a:lnTo>
                      <a:pt x="0" y="0"/>
                    </a:lnTo>
                  </a:path>
                </a:pathLst>
              </a:custGeom>
              <a:noFill/>
              <a:ln w="19050">
                <a:solidFill>
                  <a:srgbClr val="145849"/>
                </a:solidFill>
              </a:ln>
            </p:spPr>
          </p:sp>
          <p:sp>
            <p:nvSpPr>
              <p:cNvPr id="43" name="Freeform 43"/>
              <p:cNvSpPr/>
              <p:nvPr/>
            </p:nvSpPr>
            <p:spPr>
              <a:xfrm>
                <a:off x="6119812" y="4943475"/>
                <a:ext cx="59531" cy="9525"/>
              </a:xfrm>
              <a:custGeom>
                <a:avLst/>
                <a:gdLst/>
                <a:ahLst/>
                <a:cxnLst/>
                <a:rect l="l" t="t" r="r" b="b"/>
                <a:pathLst>
                  <a:path w="59531" h="9525">
                    <a:moveTo>
                      <a:pt x="0" y="0"/>
                    </a:moveTo>
                    <a:lnTo>
                      <a:pt x="59531" y="0"/>
                    </a:lnTo>
                  </a:path>
                </a:pathLst>
              </a:custGeom>
              <a:noFill/>
              <a:ln w="19050">
                <a:solidFill>
                  <a:srgbClr val="145849"/>
                </a:solidFill>
              </a:ln>
            </p:spPr>
          </p:sp>
          <p:sp>
            <p:nvSpPr>
              <p:cNvPr id="44" name="Freeform 44"/>
              <p:cNvSpPr/>
              <p:nvPr/>
            </p:nvSpPr>
            <p:spPr>
              <a:xfrm>
                <a:off x="6090047" y="4872038"/>
                <a:ext cx="9525" cy="47625"/>
              </a:xfrm>
              <a:custGeom>
                <a:avLst/>
                <a:gdLst/>
                <a:ahLst/>
                <a:cxnLst/>
                <a:rect l="l" t="t" r="r" b="b"/>
                <a:pathLst>
                  <a:path w="9525" h="47625">
                    <a:moveTo>
                      <a:pt x="0" y="0"/>
                    </a:moveTo>
                    <a:lnTo>
                      <a:pt x="0" y="47625"/>
                    </a:lnTo>
                  </a:path>
                </a:pathLst>
              </a:custGeom>
              <a:noFill/>
              <a:ln w="19050">
                <a:solidFill>
                  <a:srgbClr val="145849"/>
                </a:solidFill>
              </a:ln>
            </p:spPr>
          </p:sp>
          <p:sp>
            <p:nvSpPr>
              <p:cNvPr id="45" name="Freeform 45"/>
              <p:cNvSpPr/>
              <p:nvPr/>
            </p:nvSpPr>
            <p:spPr>
              <a:xfrm>
                <a:off x="6090047" y="4967288"/>
                <a:ext cx="9525" cy="47625"/>
              </a:xfrm>
              <a:custGeom>
                <a:avLst/>
                <a:gdLst/>
                <a:ahLst/>
                <a:cxnLst/>
                <a:rect l="l" t="t" r="r" b="b"/>
                <a:pathLst>
                  <a:path w="9525" h="47625">
                    <a:moveTo>
                      <a:pt x="0" y="0"/>
                    </a:moveTo>
                    <a:lnTo>
                      <a:pt x="0" y="47625"/>
                    </a:lnTo>
                  </a:path>
                </a:pathLst>
              </a:custGeom>
              <a:noFill/>
              <a:ln w="19050">
                <a:solidFill>
                  <a:srgbClr val="145849"/>
                </a:solidFill>
              </a:ln>
            </p:spPr>
          </p:sp>
        </p:grpSp>
        <p:sp>
          <p:nvSpPr>
            <p:cNvPr id="47" name="TextBox 47"/>
            <p:cNvSpPr txBox="1"/>
            <p:nvPr/>
          </p:nvSpPr>
          <p:spPr>
            <a:xfrm>
              <a:off x="6438900" y="4752975"/>
              <a:ext cx="951714" cy="304800"/>
            </a:xfrm>
            <a:prstGeom prst="rect">
              <a:avLst/>
            </a:prstGeom>
            <a:noFill/>
            <a:ln>
              <a:noFill/>
            </a:ln>
          </p:spPr>
          <p:txBody>
            <a:bodyPr wrap="none" lIns="0" tIns="0" rIns="0" bIns="0" anchor="t" anchorCtr="0">
              <a:spAutoFit/>
            </a:bodyPr>
            <a:lstStyle/>
            <a:p>
              <a:pPr algn="l"/>
              <a:r>
                <a:rPr lang="zh-CN" sz="1500" b="1" dirty="0">
                  <a:solidFill>
                    <a:srgbClr val="1F2B2B"/>
                  </a:solidFill>
                  <a:latin typeface="Trebuchet MS"/>
                  <a:ea typeface="Microsoft YaHei"/>
                  <a:cs typeface="Trebuchet MS"/>
                </a:rPr>
                <a:t>Ontology</a:t>
              </a:r>
            </a:p>
          </p:txBody>
        </p:sp>
        <p:sp>
          <p:nvSpPr>
            <p:cNvPr id="48" name="TextBox 48"/>
            <p:cNvSpPr txBox="1"/>
            <p:nvPr/>
          </p:nvSpPr>
          <p:spPr>
            <a:xfrm>
              <a:off x="6444615" y="5011102"/>
              <a:ext cx="3548110" cy="213360"/>
            </a:xfrm>
            <a:prstGeom prst="rect">
              <a:avLst/>
            </a:prstGeom>
            <a:noFill/>
            <a:ln>
              <a:noFill/>
            </a:ln>
          </p:spPr>
          <p:txBody>
            <a:bodyPr wrap="none" lIns="0" tIns="0" rIns="0" bIns="0" anchor="t" anchorCtr="0">
              <a:spAutoFit/>
            </a:bodyPr>
            <a:lstStyle/>
            <a:p>
              <a:pPr algn="l"/>
              <a:r>
                <a:rPr lang="zh-CN" sz="1050" dirty="0">
                  <a:solidFill>
                    <a:srgbClr val="5E6A68"/>
                  </a:solidFill>
                  <a:latin typeface="Arial"/>
                  <a:ea typeface="Microsoft YaHei"/>
                  <a:cs typeface="Arial"/>
                </a:rPr>
                <a:t>Shared enterprise semantics and operating context</a:t>
              </a:r>
            </a:p>
          </p:txBody>
        </p:sp>
        <p:sp>
          <p:nvSpPr>
            <p:cNvPr id="49" name="Rectangle 49"/>
            <p:cNvSpPr/>
            <p:nvPr/>
          </p:nvSpPr>
          <p:spPr>
            <a:xfrm>
              <a:off x="6153150" y="3943350"/>
              <a:ext cx="4114800" cy="590550"/>
            </a:xfrm>
            <a:prstGeom prst="roundRect">
              <a:avLst>
                <a:gd name="adj" fmla="val 3226"/>
              </a:avLst>
            </a:prstGeom>
            <a:solidFill>
              <a:srgbClr val="145849">
                <a:alpha val="10000"/>
              </a:srgbClr>
            </a:solidFill>
            <a:ln w="9525">
              <a:solidFill>
                <a:srgbClr val="145849"/>
              </a:solidFill>
            </a:ln>
          </p:spPr>
        </p:sp>
        <p:grpSp>
          <p:nvGrpSpPr>
            <p:cNvPr id="56" name="Group 56"/>
            <p:cNvGrpSpPr/>
            <p:nvPr/>
          </p:nvGrpSpPr>
          <p:grpSpPr>
            <a:xfrm>
              <a:off x="6379369" y="4131469"/>
              <a:ext cx="214312" cy="214312"/>
              <a:chOff x="6379369" y="4131469"/>
              <a:chExt cx="214312" cy="214312"/>
            </a:xfrm>
          </p:grpSpPr>
          <p:sp>
            <p:nvSpPr>
              <p:cNvPr id="50" name="Freeform 50"/>
              <p:cNvSpPr/>
              <p:nvPr/>
            </p:nvSpPr>
            <p:spPr>
              <a:xfrm>
                <a:off x="6486525" y="4250531"/>
                <a:ext cx="83344" cy="95250"/>
              </a:xfrm>
              <a:custGeom>
                <a:avLst/>
                <a:gdLst/>
                <a:ahLst/>
                <a:cxnLst/>
                <a:rect l="l" t="t" r="r" b="b"/>
                <a:pathLst>
                  <a:path w="83344" h="95250">
                    <a:moveTo>
                      <a:pt x="41672" y="0"/>
                    </a:moveTo>
                    <a:cubicBezTo>
                      <a:pt x="18657" y="0"/>
                      <a:pt x="0" y="18657"/>
                      <a:pt x="0" y="41672"/>
                    </a:cubicBezTo>
                    <a:lnTo>
                      <a:pt x="0" y="53578"/>
                    </a:lnTo>
                    <a:cubicBezTo>
                      <a:pt x="0" y="76593"/>
                      <a:pt x="18657" y="95250"/>
                      <a:pt x="41672" y="95250"/>
                    </a:cubicBezTo>
                    <a:cubicBezTo>
                      <a:pt x="64687" y="95250"/>
                      <a:pt x="83344" y="76593"/>
                      <a:pt x="83344" y="53578"/>
                    </a:cubicBezTo>
                    <a:lnTo>
                      <a:pt x="83344" y="32147"/>
                    </a:lnTo>
                  </a:path>
                </a:pathLst>
              </a:custGeom>
              <a:noFill/>
              <a:ln w="19050">
                <a:solidFill>
                  <a:srgbClr val="145849"/>
                </a:solidFill>
              </a:ln>
            </p:spPr>
          </p:sp>
          <p:sp>
            <p:nvSpPr>
              <p:cNvPr id="51" name="Freeform 51"/>
              <p:cNvSpPr/>
              <p:nvPr/>
            </p:nvSpPr>
            <p:spPr>
              <a:xfrm>
                <a:off x="6403181" y="4250531"/>
                <a:ext cx="83344" cy="95250"/>
              </a:xfrm>
              <a:custGeom>
                <a:avLst/>
                <a:gdLst/>
                <a:ahLst/>
                <a:cxnLst/>
                <a:rect l="l" t="t" r="r" b="b"/>
                <a:pathLst>
                  <a:path w="83344" h="95250">
                    <a:moveTo>
                      <a:pt x="41672" y="0"/>
                    </a:moveTo>
                    <a:cubicBezTo>
                      <a:pt x="64687" y="0"/>
                      <a:pt x="83344" y="18657"/>
                      <a:pt x="83344" y="41672"/>
                    </a:cubicBezTo>
                    <a:lnTo>
                      <a:pt x="83344" y="53578"/>
                    </a:lnTo>
                    <a:cubicBezTo>
                      <a:pt x="83344" y="76593"/>
                      <a:pt x="64687" y="95250"/>
                      <a:pt x="41672" y="95250"/>
                    </a:cubicBezTo>
                    <a:cubicBezTo>
                      <a:pt x="18657" y="95250"/>
                      <a:pt x="0" y="76593"/>
                      <a:pt x="0" y="53578"/>
                    </a:cubicBezTo>
                    <a:lnTo>
                      <a:pt x="0" y="32147"/>
                    </a:lnTo>
                  </a:path>
                </a:pathLst>
              </a:custGeom>
              <a:noFill/>
              <a:ln w="19050">
                <a:solidFill>
                  <a:srgbClr val="145849"/>
                </a:solidFill>
              </a:ln>
            </p:spPr>
          </p:sp>
          <p:sp>
            <p:nvSpPr>
              <p:cNvPr id="52" name="Freeform 52"/>
              <p:cNvSpPr/>
              <p:nvPr/>
            </p:nvSpPr>
            <p:spPr>
              <a:xfrm>
                <a:off x="6546056" y="4202906"/>
                <a:ext cx="47625" cy="83344"/>
              </a:xfrm>
              <a:custGeom>
                <a:avLst/>
                <a:gdLst/>
                <a:ahLst/>
                <a:cxnLst/>
                <a:rect l="l" t="t" r="r" b="b"/>
                <a:pathLst>
                  <a:path w="47625" h="83344">
                    <a:moveTo>
                      <a:pt x="5953" y="83344"/>
                    </a:moveTo>
                    <a:cubicBezTo>
                      <a:pt x="28968" y="83344"/>
                      <a:pt x="47625" y="64687"/>
                      <a:pt x="47625" y="41672"/>
                    </a:cubicBezTo>
                    <a:cubicBezTo>
                      <a:pt x="47625" y="18657"/>
                      <a:pt x="28968" y="0"/>
                      <a:pt x="5953" y="0"/>
                    </a:cubicBezTo>
                    <a:lnTo>
                      <a:pt x="0" y="0"/>
                    </a:lnTo>
                  </a:path>
                </a:pathLst>
              </a:custGeom>
              <a:noFill/>
              <a:ln w="19050">
                <a:solidFill>
                  <a:srgbClr val="145849"/>
                </a:solidFill>
              </a:ln>
            </p:spPr>
          </p:sp>
          <p:sp>
            <p:nvSpPr>
              <p:cNvPr id="53" name="Freeform 53"/>
              <p:cNvSpPr/>
              <p:nvPr/>
            </p:nvSpPr>
            <p:spPr>
              <a:xfrm>
                <a:off x="6486525" y="4131469"/>
                <a:ext cx="83344" cy="75009"/>
              </a:xfrm>
              <a:custGeom>
                <a:avLst/>
                <a:gdLst/>
                <a:ahLst/>
                <a:cxnLst/>
                <a:rect l="l" t="t" r="r" b="b"/>
                <a:pathLst>
                  <a:path w="83344" h="75009">
                    <a:moveTo>
                      <a:pt x="83344" y="75009"/>
                    </a:moveTo>
                    <a:lnTo>
                      <a:pt x="83344" y="41672"/>
                    </a:lnTo>
                    <a:cubicBezTo>
                      <a:pt x="83344" y="18657"/>
                      <a:pt x="64687" y="0"/>
                      <a:pt x="41672" y="0"/>
                    </a:cubicBezTo>
                    <a:cubicBezTo>
                      <a:pt x="18657" y="0"/>
                      <a:pt x="0" y="18657"/>
                      <a:pt x="0" y="41672"/>
                    </a:cubicBezTo>
                  </a:path>
                </a:pathLst>
              </a:custGeom>
              <a:noFill/>
              <a:ln w="19050">
                <a:solidFill>
                  <a:srgbClr val="145849"/>
                </a:solidFill>
              </a:ln>
            </p:spPr>
          </p:sp>
          <p:sp>
            <p:nvSpPr>
              <p:cNvPr id="54" name="Freeform 54"/>
              <p:cNvSpPr/>
              <p:nvPr/>
            </p:nvSpPr>
            <p:spPr>
              <a:xfrm>
                <a:off x="6379369" y="4202906"/>
                <a:ext cx="47625" cy="83344"/>
              </a:xfrm>
              <a:custGeom>
                <a:avLst/>
                <a:gdLst/>
                <a:ahLst/>
                <a:cxnLst/>
                <a:rect l="l" t="t" r="r" b="b"/>
                <a:pathLst>
                  <a:path w="47625" h="83344">
                    <a:moveTo>
                      <a:pt x="41672" y="83344"/>
                    </a:moveTo>
                    <a:cubicBezTo>
                      <a:pt x="18657" y="83344"/>
                      <a:pt x="0" y="64687"/>
                      <a:pt x="0" y="41672"/>
                    </a:cubicBezTo>
                    <a:cubicBezTo>
                      <a:pt x="0" y="18657"/>
                      <a:pt x="18657" y="0"/>
                      <a:pt x="41672" y="0"/>
                    </a:cubicBezTo>
                    <a:lnTo>
                      <a:pt x="47625" y="0"/>
                    </a:lnTo>
                  </a:path>
                </a:pathLst>
              </a:custGeom>
              <a:noFill/>
              <a:ln w="19050">
                <a:solidFill>
                  <a:srgbClr val="145849"/>
                </a:solidFill>
              </a:ln>
            </p:spPr>
          </p:sp>
          <p:sp>
            <p:nvSpPr>
              <p:cNvPr id="55" name="Freeform 55"/>
              <p:cNvSpPr/>
              <p:nvPr/>
            </p:nvSpPr>
            <p:spPr>
              <a:xfrm>
                <a:off x="6403181" y="4131469"/>
                <a:ext cx="83344" cy="160734"/>
              </a:xfrm>
              <a:custGeom>
                <a:avLst/>
                <a:gdLst/>
                <a:ahLst/>
                <a:cxnLst/>
                <a:rect l="l" t="t" r="r" b="b"/>
                <a:pathLst>
                  <a:path w="83344" h="160734">
                    <a:moveTo>
                      <a:pt x="0" y="75009"/>
                    </a:moveTo>
                    <a:lnTo>
                      <a:pt x="0" y="41672"/>
                    </a:lnTo>
                    <a:cubicBezTo>
                      <a:pt x="0" y="18657"/>
                      <a:pt x="18657" y="0"/>
                      <a:pt x="41672" y="0"/>
                    </a:cubicBezTo>
                    <a:cubicBezTo>
                      <a:pt x="64687" y="0"/>
                      <a:pt x="83344" y="18657"/>
                      <a:pt x="83344" y="41672"/>
                    </a:cubicBezTo>
                    <a:lnTo>
                      <a:pt x="83344" y="160734"/>
                    </a:lnTo>
                  </a:path>
                </a:pathLst>
              </a:custGeom>
              <a:noFill/>
              <a:ln w="19050">
                <a:solidFill>
                  <a:srgbClr val="145849"/>
                </a:solidFill>
              </a:ln>
            </p:spPr>
          </p:sp>
        </p:grpSp>
        <p:sp>
          <p:nvSpPr>
            <p:cNvPr id="57" name="TextBox 57"/>
            <p:cNvSpPr txBox="1"/>
            <p:nvPr/>
          </p:nvSpPr>
          <p:spPr>
            <a:xfrm>
              <a:off x="6781800" y="4048125"/>
              <a:ext cx="1025223" cy="304800"/>
            </a:xfrm>
            <a:prstGeom prst="rect">
              <a:avLst/>
            </a:prstGeom>
            <a:noFill/>
            <a:ln>
              <a:noFill/>
            </a:ln>
          </p:spPr>
          <p:txBody>
            <a:bodyPr wrap="none" lIns="0" tIns="0" rIns="0" bIns="0" anchor="t" anchorCtr="0">
              <a:spAutoFit/>
            </a:bodyPr>
            <a:lstStyle/>
            <a:p>
              <a:pPr algn="l"/>
              <a:r>
                <a:rPr lang="zh-CN" sz="1500" b="1" dirty="0">
                  <a:solidFill>
                    <a:srgbClr val="1F2B2B"/>
                  </a:solidFill>
                  <a:latin typeface="Trebuchet MS"/>
                  <a:ea typeface="Microsoft YaHei"/>
                  <a:cs typeface="Trebuchet MS"/>
                </a:rPr>
                <a:t>Wiki Brain</a:t>
              </a:r>
            </a:p>
          </p:txBody>
        </p:sp>
        <p:sp>
          <p:nvSpPr>
            <p:cNvPr id="58" name="TextBox 58"/>
            <p:cNvSpPr txBox="1"/>
            <p:nvPr/>
          </p:nvSpPr>
          <p:spPr>
            <a:xfrm>
              <a:off x="6787515" y="4306252"/>
              <a:ext cx="3205067" cy="213360"/>
            </a:xfrm>
            <a:prstGeom prst="rect">
              <a:avLst/>
            </a:prstGeom>
            <a:noFill/>
            <a:ln>
              <a:noFill/>
            </a:ln>
          </p:spPr>
          <p:txBody>
            <a:bodyPr wrap="none" lIns="0" tIns="0" rIns="0" bIns="0" anchor="t" anchorCtr="0">
              <a:spAutoFit/>
            </a:bodyPr>
            <a:lstStyle/>
            <a:p>
              <a:pPr algn="l"/>
              <a:r>
                <a:rPr lang="zh-CN" sz="1050" dirty="0">
                  <a:solidFill>
                    <a:srgbClr val="5E6A68"/>
                  </a:solidFill>
                  <a:latin typeface="Arial"/>
                  <a:ea typeface="Microsoft YaHei"/>
                  <a:cs typeface="Arial"/>
                </a:rPr>
                <a:t>Persistent enterprise cognition and knowledge</a:t>
              </a:r>
            </a:p>
          </p:txBody>
        </p:sp>
        <p:sp>
          <p:nvSpPr>
            <p:cNvPr id="59" name="Rectangle 59"/>
            <p:cNvSpPr/>
            <p:nvPr/>
          </p:nvSpPr>
          <p:spPr>
            <a:xfrm>
              <a:off x="6496050" y="3238500"/>
              <a:ext cx="3429000" cy="590550"/>
            </a:xfrm>
            <a:prstGeom prst="roundRect">
              <a:avLst>
                <a:gd name="adj" fmla="val 3226"/>
              </a:avLst>
            </a:prstGeom>
            <a:solidFill>
              <a:srgbClr val="145849">
                <a:alpha val="20000"/>
              </a:srgbClr>
            </a:solidFill>
            <a:ln w="9525">
              <a:solidFill>
                <a:srgbClr val="145849"/>
              </a:solidFill>
            </a:ln>
          </p:spPr>
        </p:sp>
        <p:grpSp>
          <p:nvGrpSpPr>
            <p:cNvPr id="63" name="Group 63"/>
            <p:cNvGrpSpPr/>
            <p:nvPr/>
          </p:nvGrpSpPr>
          <p:grpSpPr>
            <a:xfrm>
              <a:off x="6722269" y="3426619"/>
              <a:ext cx="214312" cy="214312"/>
              <a:chOff x="6722269" y="3426619"/>
              <a:chExt cx="214312" cy="214312"/>
            </a:xfrm>
          </p:grpSpPr>
          <p:sp>
            <p:nvSpPr>
              <p:cNvPr id="60" name="Freeform 60"/>
              <p:cNvSpPr/>
              <p:nvPr/>
            </p:nvSpPr>
            <p:spPr>
              <a:xfrm>
                <a:off x="6722269" y="3593306"/>
                <a:ext cx="47625" cy="47625"/>
              </a:xfrm>
              <a:custGeom>
                <a:avLst/>
                <a:gdLst/>
                <a:ahLst/>
                <a:cxnLst/>
                <a:rect l="l" t="t" r="r" b="b"/>
                <a:pathLst>
                  <a:path w="47625" h="47625">
                    <a:moveTo>
                      <a:pt x="0" y="23812"/>
                    </a:moveTo>
                    <a:cubicBezTo>
                      <a:pt x="0" y="36964"/>
                      <a:pt x="10661" y="47625"/>
                      <a:pt x="23812" y="47625"/>
                    </a:cubicBezTo>
                    <a:cubicBezTo>
                      <a:pt x="36964" y="47625"/>
                      <a:pt x="47625" y="36964"/>
                      <a:pt x="47625" y="23812"/>
                    </a:cubicBezTo>
                    <a:cubicBezTo>
                      <a:pt x="47625" y="10661"/>
                      <a:pt x="36964" y="0"/>
                      <a:pt x="23812" y="0"/>
                    </a:cubicBezTo>
                    <a:cubicBezTo>
                      <a:pt x="10661" y="0"/>
                      <a:pt x="0" y="10661"/>
                      <a:pt x="0" y="23812"/>
                    </a:cubicBezTo>
                  </a:path>
                </a:pathLst>
              </a:custGeom>
              <a:noFill/>
              <a:ln w="19050">
                <a:solidFill>
                  <a:srgbClr val="145849"/>
                </a:solidFill>
              </a:ln>
            </p:spPr>
          </p:sp>
          <p:sp>
            <p:nvSpPr>
              <p:cNvPr id="61" name="Freeform 61"/>
              <p:cNvSpPr/>
              <p:nvPr/>
            </p:nvSpPr>
            <p:spPr>
              <a:xfrm>
                <a:off x="6888956" y="3426619"/>
                <a:ext cx="47625" cy="47625"/>
              </a:xfrm>
              <a:custGeom>
                <a:avLst/>
                <a:gdLst/>
                <a:ahLst/>
                <a:cxnLst/>
                <a:rect l="l" t="t" r="r" b="b"/>
                <a:pathLst>
                  <a:path w="47625" h="47625">
                    <a:moveTo>
                      <a:pt x="23812" y="47625"/>
                    </a:moveTo>
                    <a:cubicBezTo>
                      <a:pt x="36964" y="47625"/>
                      <a:pt x="47625" y="36964"/>
                      <a:pt x="47625" y="23812"/>
                    </a:cubicBezTo>
                    <a:cubicBezTo>
                      <a:pt x="47625" y="10661"/>
                      <a:pt x="36964" y="0"/>
                      <a:pt x="23812" y="0"/>
                    </a:cubicBezTo>
                    <a:cubicBezTo>
                      <a:pt x="10661" y="0"/>
                      <a:pt x="0" y="10661"/>
                      <a:pt x="0" y="23812"/>
                    </a:cubicBezTo>
                    <a:cubicBezTo>
                      <a:pt x="0" y="36964"/>
                      <a:pt x="10661" y="47625"/>
                      <a:pt x="23812" y="47625"/>
                    </a:cubicBezTo>
                  </a:path>
                </a:pathLst>
              </a:custGeom>
              <a:noFill/>
              <a:ln w="19050">
                <a:solidFill>
                  <a:srgbClr val="145849"/>
                </a:solidFill>
              </a:ln>
            </p:spPr>
          </p:sp>
          <p:sp>
            <p:nvSpPr>
              <p:cNvPr id="62" name="Freeform 62"/>
              <p:cNvSpPr/>
              <p:nvPr/>
            </p:nvSpPr>
            <p:spPr>
              <a:xfrm>
                <a:off x="6746081" y="3450431"/>
                <a:ext cx="178594" cy="166688"/>
              </a:xfrm>
              <a:custGeom>
                <a:avLst/>
                <a:gdLst/>
                <a:ahLst/>
                <a:cxnLst/>
                <a:rect l="l" t="t" r="r" b="b"/>
                <a:pathLst>
                  <a:path w="178594" h="166688">
                    <a:moveTo>
                      <a:pt x="71438" y="166688"/>
                    </a:moveTo>
                    <a:lnTo>
                      <a:pt x="136922" y="166688"/>
                    </a:lnTo>
                    <a:cubicBezTo>
                      <a:pt x="159937" y="166688"/>
                      <a:pt x="178594" y="148030"/>
                      <a:pt x="178594" y="125016"/>
                    </a:cubicBezTo>
                    <a:cubicBezTo>
                      <a:pt x="178594" y="102001"/>
                      <a:pt x="159937" y="83344"/>
                      <a:pt x="136922" y="83344"/>
                    </a:cubicBezTo>
                    <a:lnTo>
                      <a:pt x="41672" y="83344"/>
                    </a:lnTo>
                    <a:cubicBezTo>
                      <a:pt x="18657" y="83344"/>
                      <a:pt x="0" y="64687"/>
                      <a:pt x="0" y="41672"/>
                    </a:cubicBezTo>
                    <a:cubicBezTo>
                      <a:pt x="0" y="18657"/>
                      <a:pt x="18657" y="0"/>
                      <a:pt x="41672" y="0"/>
                    </a:cubicBezTo>
                    <a:lnTo>
                      <a:pt x="95250" y="0"/>
                    </a:lnTo>
                  </a:path>
                </a:pathLst>
              </a:custGeom>
              <a:noFill/>
              <a:ln w="19050">
                <a:solidFill>
                  <a:srgbClr val="145849"/>
                </a:solidFill>
              </a:ln>
            </p:spPr>
          </p:sp>
        </p:grpSp>
        <p:sp>
          <p:nvSpPr>
            <p:cNvPr id="64" name="TextBox 64"/>
            <p:cNvSpPr txBox="1"/>
            <p:nvPr/>
          </p:nvSpPr>
          <p:spPr>
            <a:xfrm>
              <a:off x="7124700" y="3343275"/>
              <a:ext cx="1739313" cy="304800"/>
            </a:xfrm>
            <a:prstGeom prst="rect">
              <a:avLst/>
            </a:prstGeom>
            <a:noFill/>
            <a:ln>
              <a:noFill/>
            </a:ln>
          </p:spPr>
          <p:txBody>
            <a:bodyPr wrap="none" lIns="0" tIns="0" rIns="0" bIns="0" anchor="t" anchorCtr="0">
              <a:spAutoFit/>
            </a:bodyPr>
            <a:lstStyle/>
            <a:p>
              <a:pPr algn="l"/>
              <a:r>
                <a:rPr lang="zh-CN" sz="1500" b="1" dirty="0">
                  <a:solidFill>
                    <a:srgbClr val="1F2B2B"/>
                  </a:solidFill>
                  <a:latin typeface="Trebuchet MS"/>
                  <a:ea typeface="Microsoft YaHei"/>
                  <a:cs typeface="Trebuchet MS"/>
                </a:rPr>
                <a:t>Decision &amp; Action</a:t>
              </a:r>
            </a:p>
          </p:txBody>
        </p:sp>
        <p:sp>
          <p:nvSpPr>
            <p:cNvPr id="65" name="TextBox 65"/>
            <p:cNvSpPr txBox="1"/>
            <p:nvPr/>
          </p:nvSpPr>
          <p:spPr>
            <a:xfrm>
              <a:off x="7130415" y="3601402"/>
              <a:ext cx="3499104" cy="213360"/>
            </a:xfrm>
            <a:prstGeom prst="rect">
              <a:avLst/>
            </a:prstGeom>
            <a:noFill/>
            <a:ln>
              <a:noFill/>
            </a:ln>
          </p:spPr>
          <p:txBody>
            <a:bodyPr wrap="none" lIns="0" tIns="0" rIns="0" bIns="0" anchor="t" anchorCtr="0">
              <a:spAutoFit/>
            </a:bodyPr>
            <a:lstStyle/>
            <a:p>
              <a:pPr algn="l"/>
              <a:r>
                <a:rPr lang="zh-CN" sz="1050" dirty="0">
                  <a:solidFill>
                    <a:srgbClr val="5E6A68"/>
                  </a:solidFill>
                  <a:latin typeface="Arial"/>
                  <a:ea typeface="Microsoft YaHei"/>
                  <a:cs typeface="Arial"/>
                </a:rPr>
                <a:t>Judgment translated into governed follow-through</a:t>
              </a:r>
            </a:p>
          </p:txBody>
        </p:sp>
        <p:sp>
          <p:nvSpPr>
            <p:cNvPr id="66" name="Rectangle 66"/>
            <p:cNvSpPr/>
            <p:nvPr/>
          </p:nvSpPr>
          <p:spPr>
            <a:xfrm>
              <a:off x="6838950" y="2400300"/>
              <a:ext cx="2743200" cy="723900"/>
            </a:xfrm>
            <a:prstGeom prst="roundRect">
              <a:avLst>
                <a:gd name="adj" fmla="val 2632"/>
              </a:avLst>
            </a:prstGeom>
            <a:solidFill>
              <a:srgbClr val="064FA0"/>
            </a:solidFill>
            <a:ln>
              <a:noFill/>
            </a:ln>
          </p:spPr>
        </p:sp>
        <p:sp>
          <p:nvSpPr>
            <p:cNvPr id="67" name="Freeform 67"/>
            <p:cNvSpPr/>
            <p:nvPr/>
          </p:nvSpPr>
          <p:spPr>
            <a:xfrm>
              <a:off x="7052977" y="2657773"/>
              <a:ext cx="237696" cy="210705"/>
            </a:xfrm>
            <a:custGeom>
              <a:avLst/>
              <a:gdLst/>
              <a:ahLst/>
              <a:cxnLst/>
              <a:rect l="l" t="t" r="r" b="b"/>
              <a:pathLst>
                <a:path w="237696" h="210705">
                  <a:moveTo>
                    <a:pt x="12192" y="199727"/>
                  </a:moveTo>
                  <a:lnTo>
                    <a:pt x="27670" y="153293"/>
                  </a:lnTo>
                  <a:cubicBezTo>
                    <a:pt x="0" y="112371"/>
                    <a:pt x="10692" y="59567"/>
                    <a:pt x="52673" y="29778"/>
                  </a:cubicBezTo>
                  <a:cubicBezTo>
                    <a:pt x="94655" y="0"/>
                    <a:pt x="154948" y="2441"/>
                    <a:pt x="193703" y="35493"/>
                  </a:cubicBezTo>
                  <a:cubicBezTo>
                    <a:pt x="232458" y="68556"/>
                    <a:pt x="237696" y="122003"/>
                    <a:pt x="205954" y="160520"/>
                  </a:cubicBezTo>
                  <a:cubicBezTo>
                    <a:pt x="174212" y="199037"/>
                    <a:pt x="115288" y="210705"/>
                    <a:pt x="68151" y="187821"/>
                  </a:cubicBezTo>
                  <a:lnTo>
                    <a:pt x="12192" y="199727"/>
                  </a:lnTo>
                </a:path>
              </a:pathLst>
            </a:custGeom>
            <a:noFill/>
            <a:ln w="19050">
              <a:solidFill>
                <a:srgbClr val="FFFFFF"/>
              </a:solidFill>
            </a:ln>
          </p:spPr>
        </p:sp>
        <p:sp>
          <p:nvSpPr>
            <p:cNvPr id="68" name="TextBox 68"/>
            <p:cNvSpPr txBox="1"/>
            <p:nvPr/>
          </p:nvSpPr>
          <p:spPr>
            <a:xfrm>
              <a:off x="7467600" y="2486025"/>
              <a:ext cx="1392769" cy="304800"/>
            </a:xfrm>
            <a:prstGeom prst="rect">
              <a:avLst/>
            </a:prstGeom>
            <a:noFill/>
            <a:ln>
              <a:noFill/>
            </a:ln>
          </p:spPr>
          <p:txBody>
            <a:bodyPr wrap="none" lIns="0" tIns="0" rIns="0" bIns="0" anchor="t" anchorCtr="0">
              <a:spAutoFit/>
            </a:bodyPr>
            <a:lstStyle/>
            <a:p>
              <a:pPr algn="l"/>
              <a:r>
                <a:rPr lang="zh-CN" sz="1500" b="1" dirty="0">
                  <a:solidFill>
                    <a:srgbClr val="FFFFFF"/>
                  </a:solidFill>
                  <a:latin typeface="Trebuchet MS"/>
                  <a:ea typeface="Microsoft YaHei"/>
                  <a:cs typeface="Trebuchet MS"/>
                </a:rPr>
                <a:t>GUI / Dialogue</a:t>
              </a:r>
            </a:p>
          </p:txBody>
        </p:sp>
        <p:sp>
          <p:nvSpPr>
            <p:cNvPr id="69" name="TextBox 69"/>
            <p:cNvSpPr txBox="1"/>
            <p:nvPr/>
          </p:nvSpPr>
          <p:spPr>
            <a:xfrm>
              <a:off x="7473315" y="2763202"/>
              <a:ext cx="985790" cy="213360"/>
            </a:xfrm>
            <a:prstGeom prst="rect">
              <a:avLst/>
            </a:prstGeom>
            <a:noFill/>
            <a:ln>
              <a:noFill/>
            </a:ln>
          </p:spPr>
          <p:txBody>
            <a:bodyPr wrap="none" lIns="0" tIns="0" rIns="0" bIns="0" anchor="t" anchorCtr="0">
              <a:spAutoFit/>
            </a:bodyPr>
            <a:lstStyle/>
            <a:p>
              <a:pPr algn="l"/>
              <a:r>
                <a:rPr lang="zh-CN" sz="1050" dirty="0">
                  <a:solidFill>
                    <a:srgbClr val="FFFFFF"/>
                  </a:solidFill>
                  <a:latin typeface="Arial"/>
                  <a:ea typeface="Microsoft YaHei"/>
                  <a:cs typeface="Arial"/>
                </a:rPr>
                <a:t>CEO interface</a:t>
              </a:r>
            </a:p>
          </p:txBody>
        </p:sp>
        <p:grpSp>
          <p:nvGrpSpPr>
            <p:cNvPr id="73" name="Group 73"/>
            <p:cNvGrpSpPr/>
            <p:nvPr/>
          </p:nvGrpSpPr>
          <p:grpSpPr>
            <a:xfrm>
              <a:off x="9215438" y="2655094"/>
              <a:ext cx="190812" cy="226513"/>
              <a:chOff x="9215438" y="2655094"/>
              <a:chExt cx="190812" cy="226513"/>
            </a:xfrm>
          </p:grpSpPr>
          <p:sp>
            <p:nvSpPr>
              <p:cNvPr id="70" name="Freeform 70"/>
              <p:cNvSpPr/>
              <p:nvPr/>
            </p:nvSpPr>
            <p:spPr>
              <a:xfrm>
                <a:off x="9239250" y="2655094"/>
                <a:ext cx="95250" cy="95250"/>
              </a:xfrm>
              <a:custGeom>
                <a:avLst/>
                <a:gdLst/>
                <a:ahLst/>
                <a:cxnLst/>
                <a:rect l="l" t="t" r="r" b="b"/>
                <a:pathLst>
                  <a:path w="95250" h="95250">
                    <a:moveTo>
                      <a:pt x="0" y="47625"/>
                    </a:moveTo>
                    <a:cubicBezTo>
                      <a:pt x="0" y="73928"/>
                      <a:pt x="21322" y="95250"/>
                      <a:pt x="47625" y="95250"/>
                    </a:cubicBezTo>
                    <a:cubicBezTo>
                      <a:pt x="73928" y="95250"/>
                      <a:pt x="95250" y="73928"/>
                      <a:pt x="95250" y="47625"/>
                    </a:cubicBezTo>
                    <a:cubicBezTo>
                      <a:pt x="95250" y="21322"/>
                      <a:pt x="73928" y="0"/>
                      <a:pt x="47625" y="0"/>
                    </a:cubicBezTo>
                    <a:cubicBezTo>
                      <a:pt x="21322" y="0"/>
                      <a:pt x="0" y="21322"/>
                      <a:pt x="0" y="47625"/>
                    </a:cubicBezTo>
                  </a:path>
                </a:pathLst>
              </a:custGeom>
              <a:noFill/>
              <a:ln w="19050">
                <a:solidFill>
                  <a:srgbClr val="FFFFFF"/>
                </a:solidFill>
              </a:ln>
            </p:spPr>
          </p:sp>
          <p:sp>
            <p:nvSpPr>
              <p:cNvPr id="71" name="Freeform 71"/>
              <p:cNvSpPr/>
              <p:nvPr/>
            </p:nvSpPr>
            <p:spPr>
              <a:xfrm>
                <a:off x="9215438" y="2797969"/>
                <a:ext cx="53578" cy="71438"/>
              </a:xfrm>
              <a:custGeom>
                <a:avLst/>
                <a:gdLst/>
                <a:ahLst/>
                <a:cxnLst/>
                <a:rect l="l" t="t" r="r" b="b"/>
                <a:pathLst>
                  <a:path w="53578" h="71438">
                    <a:moveTo>
                      <a:pt x="0" y="71438"/>
                    </a:moveTo>
                    <a:lnTo>
                      <a:pt x="0" y="47625"/>
                    </a:lnTo>
                    <a:cubicBezTo>
                      <a:pt x="0" y="21322"/>
                      <a:pt x="21322" y="0"/>
                      <a:pt x="47625" y="0"/>
                    </a:cubicBezTo>
                    <a:lnTo>
                      <a:pt x="53578" y="0"/>
                    </a:lnTo>
                  </a:path>
                </a:pathLst>
              </a:custGeom>
              <a:noFill/>
              <a:ln w="19050">
                <a:solidFill>
                  <a:srgbClr val="FFFFFF"/>
                </a:solidFill>
              </a:ln>
            </p:spPr>
          </p:sp>
          <p:sp>
            <p:nvSpPr>
              <p:cNvPr id="72" name="Freeform 72"/>
              <p:cNvSpPr/>
              <p:nvPr/>
            </p:nvSpPr>
            <p:spPr>
              <a:xfrm>
                <a:off x="9305596" y="2786057"/>
                <a:ext cx="100654" cy="95550"/>
              </a:xfrm>
              <a:custGeom>
                <a:avLst/>
                <a:gdLst/>
                <a:ahLst/>
                <a:cxnLst/>
                <a:rect l="l" t="t" r="r" b="b"/>
                <a:pathLst>
                  <a:path w="100654" h="95550">
                    <a:moveTo>
                      <a:pt x="50335" y="81170"/>
                    </a:moveTo>
                    <a:lnTo>
                      <a:pt x="24475" y="94720"/>
                    </a:lnTo>
                    <a:cubicBezTo>
                      <a:pt x="22909" y="95534"/>
                      <a:pt x="21019" y="95397"/>
                      <a:pt x="19588" y="94364"/>
                    </a:cubicBezTo>
                    <a:cubicBezTo>
                      <a:pt x="18157" y="93331"/>
                      <a:pt x="17431" y="91580"/>
                      <a:pt x="17712" y="89838"/>
                    </a:cubicBezTo>
                    <a:lnTo>
                      <a:pt x="22653" y="61132"/>
                    </a:lnTo>
                    <a:lnTo>
                      <a:pt x="1734" y="40808"/>
                    </a:lnTo>
                    <a:cubicBezTo>
                      <a:pt x="460" y="39577"/>
                      <a:pt x="0" y="37726"/>
                      <a:pt x="550" y="36042"/>
                    </a:cubicBezTo>
                    <a:cubicBezTo>
                      <a:pt x="1099" y="34357"/>
                      <a:pt x="2562" y="33134"/>
                      <a:pt x="4317" y="32891"/>
                    </a:cubicBezTo>
                    <a:lnTo>
                      <a:pt x="33226" y="28700"/>
                    </a:lnTo>
                    <a:lnTo>
                      <a:pt x="46156" y="2589"/>
                    </a:lnTo>
                    <a:cubicBezTo>
                      <a:pt x="46945" y="1003"/>
                      <a:pt x="48563" y="0"/>
                      <a:pt x="50335" y="0"/>
                    </a:cubicBezTo>
                    <a:cubicBezTo>
                      <a:pt x="52106" y="0"/>
                      <a:pt x="53725" y="1003"/>
                      <a:pt x="54514" y="2589"/>
                    </a:cubicBezTo>
                    <a:lnTo>
                      <a:pt x="67444" y="28700"/>
                    </a:lnTo>
                    <a:lnTo>
                      <a:pt x="96353" y="32891"/>
                    </a:lnTo>
                    <a:cubicBezTo>
                      <a:pt x="98102" y="33142"/>
                      <a:pt x="99557" y="34366"/>
                      <a:pt x="100106" y="36046"/>
                    </a:cubicBezTo>
                    <a:cubicBezTo>
                      <a:pt x="100654" y="37727"/>
                      <a:pt x="100201" y="39573"/>
                      <a:pt x="98936" y="40808"/>
                    </a:cubicBezTo>
                    <a:lnTo>
                      <a:pt x="78017" y="61132"/>
                    </a:lnTo>
                    <a:lnTo>
                      <a:pt x="82946" y="89826"/>
                    </a:lnTo>
                    <a:cubicBezTo>
                      <a:pt x="83248" y="91572"/>
                      <a:pt x="82530" y="93337"/>
                      <a:pt x="81096" y="94377"/>
                    </a:cubicBezTo>
                    <a:cubicBezTo>
                      <a:pt x="79661" y="95417"/>
                      <a:pt x="77760" y="95550"/>
                      <a:pt x="76195" y="94720"/>
                    </a:cubicBezTo>
                    <a:lnTo>
                      <a:pt x="50335" y="81170"/>
                    </a:lnTo>
                  </a:path>
                </a:pathLst>
              </a:custGeom>
              <a:noFill/>
              <a:ln w="19050">
                <a:solidFill>
                  <a:srgbClr val="FFFFFF"/>
                </a:solidFill>
              </a:ln>
            </p:spPr>
          </p:sp>
        </p:grpSp>
        <p:sp>
          <p:nvSpPr>
            <p:cNvPr id="74" name="Line 74"/>
            <p:cNvSpPr/>
            <p:nvPr/>
          </p:nvSpPr>
          <p:spPr>
            <a:xfrm>
              <a:off x="8210550" y="3124200"/>
              <a:ext cx="9525" cy="114300"/>
            </a:xfrm>
            <a:custGeom>
              <a:avLst/>
              <a:gdLst/>
              <a:ahLst/>
              <a:cxnLst/>
              <a:rect l="l" t="t" r="r" b="b"/>
              <a:pathLst>
                <a:path w="9525" h="114300">
                  <a:moveTo>
                    <a:pt x="0" y="0"/>
                  </a:moveTo>
                  <a:lnTo>
                    <a:pt x="0" y="114300"/>
                  </a:lnTo>
                </a:path>
              </a:pathLst>
            </a:custGeom>
            <a:noFill/>
            <a:ln w="19050">
              <a:solidFill>
                <a:srgbClr val="064FA0"/>
              </a:solidFill>
            </a:ln>
          </p:spPr>
        </p:sp>
        <p:sp>
          <p:nvSpPr>
            <p:cNvPr id="75" name="Line 75"/>
            <p:cNvSpPr/>
            <p:nvPr/>
          </p:nvSpPr>
          <p:spPr>
            <a:xfrm>
              <a:off x="8210550" y="3829050"/>
              <a:ext cx="9525" cy="114300"/>
            </a:xfrm>
            <a:custGeom>
              <a:avLst/>
              <a:gdLst/>
              <a:ahLst/>
              <a:cxnLst/>
              <a:rect l="l" t="t" r="r" b="b"/>
              <a:pathLst>
                <a:path w="9525" h="114300">
                  <a:moveTo>
                    <a:pt x="0" y="0"/>
                  </a:moveTo>
                  <a:lnTo>
                    <a:pt x="0" y="114300"/>
                  </a:lnTo>
                </a:path>
              </a:pathLst>
            </a:custGeom>
            <a:noFill/>
            <a:ln w="19050">
              <a:solidFill>
                <a:srgbClr val="145849"/>
              </a:solidFill>
            </a:ln>
          </p:spPr>
        </p:sp>
        <p:sp>
          <p:nvSpPr>
            <p:cNvPr id="76" name="Line 76"/>
            <p:cNvSpPr/>
            <p:nvPr/>
          </p:nvSpPr>
          <p:spPr>
            <a:xfrm>
              <a:off x="8210550" y="4533900"/>
              <a:ext cx="9525" cy="114300"/>
            </a:xfrm>
            <a:custGeom>
              <a:avLst/>
              <a:gdLst/>
              <a:ahLst/>
              <a:cxnLst/>
              <a:rect l="l" t="t" r="r" b="b"/>
              <a:pathLst>
                <a:path w="9525" h="114300">
                  <a:moveTo>
                    <a:pt x="0" y="0"/>
                  </a:moveTo>
                  <a:lnTo>
                    <a:pt x="0" y="114300"/>
                  </a:lnTo>
                </a:path>
              </a:pathLst>
            </a:custGeom>
            <a:noFill/>
            <a:ln w="19050">
              <a:solidFill>
                <a:srgbClr val="145849"/>
              </a:solidFill>
            </a:ln>
          </p:spPr>
        </p:sp>
      </p:grpSp>
      <p:grpSp>
        <p:nvGrpSpPr>
          <p:cNvPr id="84" name="Group 84"/>
          <p:cNvGrpSpPr/>
          <p:nvPr/>
        </p:nvGrpSpPr>
        <p:grpSpPr>
          <a:xfrm>
            <a:off x="533400" y="5829300"/>
            <a:ext cx="11125200" cy="704850"/>
            <a:chOff x="533400" y="5829300"/>
            <a:chExt cx="11125200" cy="704850"/>
          </a:xfrm>
        </p:grpSpPr>
        <p:sp>
          <p:nvSpPr>
            <p:cNvPr id="78" name="Rectangle 78"/>
            <p:cNvSpPr/>
            <p:nvPr/>
          </p:nvSpPr>
          <p:spPr>
            <a:xfrm>
              <a:off x="533400" y="5829300"/>
              <a:ext cx="11125200" cy="704850"/>
            </a:xfrm>
            <a:prstGeom prst="rect">
              <a:avLst/>
            </a:prstGeom>
            <a:solidFill>
              <a:srgbClr val="FFFFFF"/>
            </a:solidFill>
            <a:ln w="9525">
              <a:solidFill>
                <a:srgbClr val="B7D3CD"/>
              </a:solidFill>
            </a:ln>
          </p:spPr>
        </p:sp>
        <p:sp>
          <p:nvSpPr>
            <p:cNvPr id="79" name="TextBox 79"/>
            <p:cNvSpPr txBox="1"/>
            <p:nvPr/>
          </p:nvSpPr>
          <p:spPr>
            <a:xfrm>
              <a:off x="710565" y="5954078"/>
              <a:ext cx="1195466" cy="213360"/>
            </a:xfrm>
            <a:prstGeom prst="rect">
              <a:avLst/>
            </a:prstGeom>
            <a:noFill/>
            <a:ln>
              <a:noFill/>
            </a:ln>
          </p:spPr>
          <p:txBody>
            <a:bodyPr wrap="none" lIns="0" tIns="0" rIns="0" bIns="0" anchor="t" anchorCtr="0">
              <a:spAutoFit/>
            </a:bodyPr>
            <a:lstStyle/>
            <a:p>
              <a:pPr algn="l"/>
              <a:r>
                <a:rPr lang="zh-CN" sz="1050" b="1" dirty="0">
                  <a:solidFill>
                    <a:srgbClr val="145849"/>
                  </a:solidFill>
                  <a:latin typeface="Arial"/>
                  <a:ea typeface="Microsoft YaHei"/>
                  <a:cs typeface="Arial"/>
                </a:rPr>
                <a:t>SOURCE EVIDENCE</a:t>
              </a:r>
            </a:p>
          </p:txBody>
        </p:sp>
        <p:sp>
          <p:nvSpPr>
            <p:cNvPr id="80" name="Line 80"/>
            <p:cNvSpPr/>
            <p:nvPr/>
          </p:nvSpPr>
          <p:spPr>
            <a:xfrm>
              <a:off x="2047875" y="5962650"/>
              <a:ext cx="9525" cy="438150"/>
            </a:xfrm>
            <a:custGeom>
              <a:avLst/>
              <a:gdLst/>
              <a:ahLst/>
              <a:cxnLst/>
              <a:rect l="l" t="t" r="r" b="b"/>
              <a:pathLst>
                <a:path w="9525" h="438150">
                  <a:moveTo>
                    <a:pt x="0" y="0"/>
                  </a:moveTo>
                  <a:lnTo>
                    <a:pt x="0" y="438150"/>
                  </a:lnTo>
                </a:path>
              </a:pathLst>
            </a:custGeom>
            <a:noFill/>
            <a:ln w="9525">
              <a:solidFill>
                <a:srgbClr val="DDE7E4"/>
              </a:solidFill>
            </a:ln>
          </p:spPr>
        </p:sp>
        <p:sp>
          <p:nvSpPr>
            <p:cNvPr id="81" name="TextBox 81"/>
            <p:cNvSpPr txBox="1"/>
            <p:nvPr/>
          </p:nvSpPr>
          <p:spPr>
            <a:xfrm>
              <a:off x="2225040" y="5954078"/>
              <a:ext cx="3553777" cy="422910"/>
            </a:xfrm>
            <a:prstGeom prst="rect">
              <a:avLst/>
            </a:prstGeom>
            <a:noFill/>
            <a:ln>
              <a:noFill/>
            </a:ln>
          </p:spPr>
          <p:txBody>
            <a:bodyPr wrap="square" lIns="0" tIns="0" rIns="0" bIns="0" anchor="t" anchorCtr="0"/>
            <a:lstStyle/>
            <a:p>
              <a:pPr algn="l">
                <a:lnSpc>
                  <a:spcPts val="1650"/>
                </a:lnSpc>
              </a:pPr>
              <a:r>
                <a:rPr lang="zh-CN" sz="1050" b="1" dirty="0">
                  <a:solidFill>
                    <a:srgbClr val="1F2B2B"/>
                  </a:solidFill>
                  <a:latin typeface="Arial"/>
                  <a:ea typeface="Microsoft YaHei"/>
                  <a:cs typeface="Arial"/>
                </a:rPr>
                <a:t>Executive assistant</a:t>
              </a:r>
              <a:r>
                <a:rPr lang="zh-CN" sz="1050" dirty="0">
                  <a:solidFill>
                    <a:srgbClr val="1F2B2B"/>
                  </a:solidFill>
                  <a:latin typeface="Arial"/>
                  <a:ea typeface="Microsoft YaHei"/>
                  <a:cs typeface="Arial"/>
                </a:rPr>
                <a:t xml:space="preserve"> is explicitly distinguished from an </a:t>
              </a:r>
              <a:r>
                <a:rPr lang="zh-CN" sz="1050" b="1" dirty="0">
                  <a:solidFill>
                    <a:srgbClr val="145849"/>
                  </a:solidFill>
                  <a:latin typeface="Arial"/>
                  <a:ea typeface="Microsoft YaHei"/>
                  <a:cs typeface="Arial"/>
                </a:rPr>
                <a:t>enterprise management decision system.</a:t>
              </a:r>
            </a:p>
          </p:txBody>
        </p:sp>
        <p:sp>
          <p:nvSpPr>
            <p:cNvPr id="82" name="Line 82"/>
            <p:cNvSpPr/>
            <p:nvPr/>
          </p:nvSpPr>
          <p:spPr>
            <a:xfrm>
              <a:off x="6153150" y="5962650"/>
              <a:ext cx="9525" cy="438150"/>
            </a:xfrm>
            <a:custGeom>
              <a:avLst/>
              <a:gdLst/>
              <a:ahLst/>
              <a:cxnLst/>
              <a:rect l="l" t="t" r="r" b="b"/>
              <a:pathLst>
                <a:path w="9525" h="438150">
                  <a:moveTo>
                    <a:pt x="0" y="0"/>
                  </a:moveTo>
                  <a:lnTo>
                    <a:pt x="0" y="438150"/>
                  </a:lnTo>
                </a:path>
              </a:pathLst>
            </a:custGeom>
            <a:noFill/>
            <a:ln w="9525">
              <a:solidFill>
                <a:srgbClr val="DDE7E4"/>
              </a:solidFill>
            </a:ln>
          </p:spPr>
        </p:sp>
        <p:sp>
          <p:nvSpPr>
            <p:cNvPr id="83" name="TextBox 83"/>
            <p:cNvSpPr txBox="1"/>
            <p:nvPr/>
          </p:nvSpPr>
          <p:spPr>
            <a:xfrm>
              <a:off x="6330315" y="5954078"/>
              <a:ext cx="3780472" cy="422910"/>
            </a:xfrm>
            <a:prstGeom prst="rect">
              <a:avLst/>
            </a:prstGeom>
            <a:noFill/>
            <a:ln>
              <a:noFill/>
            </a:ln>
          </p:spPr>
          <p:txBody>
            <a:bodyPr wrap="square" lIns="0" tIns="0" rIns="0" bIns="0" anchor="t" anchorCtr="0"/>
            <a:lstStyle/>
            <a:p>
              <a:pPr algn="l">
                <a:lnSpc>
                  <a:spcPts val="1650"/>
                </a:lnSpc>
              </a:pPr>
              <a:r>
                <a:rPr lang="zh-CN" sz="1050" b="1" dirty="0">
                  <a:solidFill>
                    <a:srgbClr val="1F2B2B"/>
                  </a:solidFill>
                  <a:latin typeface="Arial"/>
                  <a:ea typeface="Microsoft YaHei"/>
                  <a:cs typeface="Arial"/>
                </a:rPr>
                <a:t>Five capabilities:</a:t>
              </a:r>
              <a:r>
                <a:rPr lang="zh-CN" sz="1050" dirty="0">
                  <a:solidFill>
                    <a:srgbClr val="1F2B2B"/>
                  </a:solidFill>
                  <a:latin typeface="Arial"/>
                  <a:ea typeface="Microsoft YaHei"/>
                  <a:cs typeface="Arial"/>
                </a:rPr>
                <a:t xml:space="preserve"> Ontology · Wiki Brain · Decision &amp; Action </a:t>
              </a:r>
              <a:r>
                <a:rPr lang="zh-CN" sz="1050" dirty="0">
                  <a:solidFill>
                    <a:srgbClr val="1F2B2B"/>
                  </a:solidFill>
                  <a:latin typeface="Arial"/>
                  <a:ea typeface="Microsoft YaHei"/>
                  <a:cs typeface="Arial"/>
                </a:rPr>
                <a:t>GUI/Dialogue · Enterprise Engineering &amp; Service</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400"/>
                                        <p:tgtEl>
                                          <p:spTgt spid="16"/>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fade">
                                      <p:cBhvr>
                                        <p:cTn id="11" dur="400"/>
                                        <p:tgtEl>
                                          <p:spTgt spid="19"/>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slide(fromBottom)">
                                      <p:cBhvr>
                                        <p:cTn id="15" dur="400"/>
                                        <p:tgtEl>
                                          <p:spTgt spid="22"/>
                                        </p:tgtEl>
                                      </p:cBhvr>
                                    </p:animEffect>
                                  </p:childTnLst>
                                </p:cTn>
                              </p:par>
                            </p:childTnLst>
                          </p:cTn>
                        </p:par>
                        <p:par>
                          <p:cTn id="16" fill="hold">
                            <p:stCondLst>
                              <p:cond delay="2700"/>
                            </p:stCondLst>
                            <p:childTnLst>
                              <p:par>
                                <p:cTn id="17" presetID="22" presetClass="entr" presetSubtype="1" fill="hold" nodeType="afterEffect">
                                  <p:stCondLst>
                                    <p:cond delay="0"/>
                                  </p:stCondLst>
                                  <p:childTnLst>
                                    <p:set>
                                      <p:cBhvr>
                                        <p:cTn id="18" dur="1" fill="hold">
                                          <p:stCondLst>
                                            <p:cond delay="0"/>
                                          </p:stCondLst>
                                        </p:cTn>
                                        <p:tgtEl>
                                          <p:spTgt spid="77"/>
                                        </p:tgtEl>
                                        <p:attrNameLst>
                                          <p:attrName>style.visibility</p:attrName>
                                        </p:attrNameLst>
                                      </p:cBhvr>
                                      <p:to>
                                        <p:strVal val="visible"/>
                                      </p:to>
                                    </p:set>
                                    <p:animEffect transition="in" filter="wipe(left)">
                                      <p:cBhvr>
                                        <p:cTn id="19" dur="400"/>
                                        <p:tgtEl>
                                          <p:spTgt spid="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9" grpId="0"/>
      <p:bldP spid="22" grpId="0"/>
      <p:bldP spid="77"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2026-08-05T08:25:08Z</dcterms:created>
  <dcterms:modified xsi:type="dcterms:W3CDTF">2026-08-05T08:25:08Z</dcterms:modified>
  <cp:category/>
  <cp:contentStatus/>
</cp:coreProperties>
</file>